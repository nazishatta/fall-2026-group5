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5" d="100"/>
          <a:sy n="75" d="100"/>
        </p:scale>
        <p:origin x="303"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4739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covers the project from the start through the error-pattern analysis. Fill in the date and presenter names.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question in plain words. Then say that the SOM gives a 2D map where similar images sit close together, so groups of mistakes become visible.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the audience where today’s results sit in the full project. Phase names follow the professor’s proposal.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idea of the project, taken from the hand-drawn sketch. Path 1 sends each sample straight through the CNN. Path 2 sends it through the SOM / graph stage and retraining first. Comparing the two confusion matrices, CF1 and CF2, shows what the SOM stage changes. Results come after Phases 3 and 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of the proposal: the baseline CNN and its benchmarks. The test set was used once, to score this baseline. The confusion matrix on the right is the one for the test images.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accuracy keeps rising slightly while validation accuracy flattens. That is why the checkpoint is picked by validation accuracy.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shows a sample of the 86 test mistakes with the true label, the prediction and the CNN’s confidence. The confidence numbers in the cards are from the validation split.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SOM is trained on the 84-number embeddings from the CNN’s second-to-last layer. Larger grids fit more closely but have a higher topological error. The error analysis is repeated on the other two grids to check the conclusions do not depend on this choice.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grid comparison rule was fixed before looking at the results. The left panel is the primary measure, predicting the 92 CNN mistakes. The right panel shows that the difference between the two larger grids is centered on zero.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Purity is the share of a cell’s images that belong to its most common digit. The chance level comes from shuffling the digit labels 1,000 times.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Hotspots are chosen on a random half of the validation images and measured on the other half, repeated over 200 splits, so the ratio is not inflated by picking and measuring on the same data. The ratio is the share of mistakes in hotspots divided by the share of images in hotspots.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 mix means the entropy of the digits in a cell. A negative correlation with purity and a positive one with digit mix say that mistakes sit where digits overlap.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proposal’s “retrieve and visualize the actual images in error hotspot regions” step. Fill in the last card with your own hypothesis after looking at the images.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layout for one or two headline numbers. Add the plain-words definition of hotspot ratio in the line above the footer.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simple confidence (max-softmax) predicts mistakes better than the SOM. The SOM earns its place by showing where and how the errors group. Ranges come from repeated half-splits for the cell scores and from bootstrap resampling for kNN impurity and max-softmax.</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Empty on purpose. Fill in after Phase 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Empty on purpose. Fill in after Phase 4.</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CF2 stays empty until the SOM / graph stage and retraining have been run. Both matrices must use the same test images and the same labels.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caveats already written in the report. Saying them yourself first makes the results more credible.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0" y="1229320"/>
            <a:ext cx="10566440" cy="4470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0" y="1981141"/>
            <a:ext cx="10566420" cy="40640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0" y="1229320"/>
            <a:ext cx="10566440" cy="44702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EB Garamond" pitchFamily="34" charset="0"/>
                <a:ea typeface="EB Garamond" pitchFamily="34" charset="-122"/>
                <a:cs typeface="EB Garamond"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0" y="1981141"/>
            <a:ext cx="10566420" cy="406405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80" y="812780"/>
            <a:ext cx="10883434" cy="27430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2A65A"/>
                </a:solidFill>
                <a:latin typeface="IBM Plex Sans" pitchFamily="34" charset="0"/>
                <a:ea typeface="IBM Plex Sans" pitchFamily="34" charset="-122"/>
                <a:cs typeface="IBM Plex Sans" pitchFamily="34" charset="-120"/>
              </a:rPr>
              <a:t>CAPSTONE 2026 · GROUP 5</a:t>
            </a:r>
            <a:endParaRPr lang="en-US" sz="1400" dirty="0"/>
          </a:p>
        </p:txBody>
      </p:sp>
      <p:sp>
        <p:nvSpPr>
          <p:cNvPr id="3" name="Shape 1"/>
          <p:cNvSpPr/>
          <p:nvPr/>
        </p:nvSpPr>
        <p:spPr>
          <a:xfrm>
            <a:off x="812780" y="2532460"/>
            <a:ext cx="1015960" cy="50780"/>
          </a:xfrm>
          <a:prstGeom prst="rect">
            <a:avLst/>
          </a:prstGeom>
          <a:solidFill>
            <a:srgbClr val="E07A1F"/>
          </a:solidFill>
          <a:ln/>
        </p:spPr>
        <p:txBody>
          <a:bodyPr/>
          <a:lstStyle/>
          <a:p>
            <a:endParaRPr lang="en-US"/>
          </a:p>
        </p:txBody>
      </p:sp>
      <p:sp>
        <p:nvSpPr>
          <p:cNvPr id="4" name="Text 2"/>
          <p:cNvSpPr>
            <a:spLocks noGrp="1"/>
          </p:cNvSpPr>
          <p:nvPr>
            <p:ph type="title"/>
          </p:nvPr>
        </p:nvSpPr>
        <p:spPr>
          <a:xfrm>
            <a:off x="812780" y="2837200"/>
            <a:ext cx="9156680" cy="1478201"/>
          </a:xfrm>
          <a:prstGeom prst="rect">
            <a:avLst/>
          </a:prstGeom>
          <a:noFill/>
          <a:ln/>
        </p:spPr>
        <p:txBody>
          <a:bodyPr wrap="square" lIns="0" tIns="0" rIns="0" bIns="0" rtlCol="0" anchor="t">
            <a:normAutofit/>
          </a:bodyPr>
          <a:lstStyle/>
          <a:p>
            <a:pPr marL="0" indent="0" algn="l">
              <a:lnSpc>
                <a:spcPts val="5720"/>
              </a:lnSpc>
              <a:buNone/>
            </a:pPr>
            <a:r>
              <a:rPr lang="en-US" sz="5200" b="0" i="0" dirty="0">
                <a:solidFill>
                  <a:srgbClr val="F7F5F0"/>
                </a:solidFill>
                <a:latin typeface="EB Garamond" pitchFamily="18" charset="0"/>
                <a:ea typeface="EB Garamond" pitchFamily="18" charset="-122"/>
                <a:cs typeface="EB Garamond" pitchFamily="18" charset="-120"/>
              </a:rPr>
              <a:t>Using a Self-Organizing Map to Understand MNIST CNN Errors</a:t>
            </a:r>
            <a:endParaRPr lang="en-US" sz="5200" dirty="0"/>
          </a:p>
        </p:txBody>
      </p:sp>
      <p:sp>
        <p:nvSpPr>
          <p:cNvPr id="5" name="Text 3"/>
          <p:cNvSpPr/>
          <p:nvPr/>
        </p:nvSpPr>
        <p:spPr>
          <a:xfrm>
            <a:off x="812780" y="5760780"/>
            <a:ext cx="10883434"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1E0"/>
                </a:solidFill>
                <a:latin typeface="IBM Plex Sans" pitchFamily="34" charset="0"/>
                <a:ea typeface="IBM Plex Sans" pitchFamily="34" charset="-122"/>
                <a:cs typeface="IBM Plex Sans" pitchFamily="34" charset="-120"/>
              </a:rPr>
              <a:t>Fyrooz Khan, Nazish Atta · Supervised by Dr. Amir Jafari · Preliminary Presentation · [Date]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07A1F"/>
        </a:solidFill>
        <a:effectLst/>
      </p:bgPr>
    </p:bg>
    <p:spTree>
      <p:nvGrpSpPr>
        <p:cNvPr id="1" name=""/>
        <p:cNvGrpSpPr/>
        <p:nvPr/>
      </p:nvGrpSpPr>
      <p:grpSpPr>
        <a:xfrm>
          <a:off x="0" y="0"/>
          <a:ext cx="0" cy="0"/>
          <a:chOff x="0" y="0"/>
          <a:chExt cx="0" cy="0"/>
        </a:xfrm>
      </p:grpSpPr>
      <p:sp>
        <p:nvSpPr>
          <p:cNvPr id="2" name="Text 0"/>
          <p:cNvSpPr/>
          <p:nvPr/>
        </p:nvSpPr>
        <p:spPr>
          <a:xfrm>
            <a:off x="812780" y="2171700"/>
            <a:ext cx="10883434" cy="27430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4213D"/>
                </a:solidFill>
                <a:latin typeface="IBM Plex Sans" pitchFamily="34" charset="0"/>
                <a:ea typeface="IBM Plex Sans" pitchFamily="34" charset="-122"/>
                <a:cs typeface="IBM Plex Sans" pitchFamily="34" charset="-120"/>
              </a:rPr>
              <a:t>RESEARCH QUESTION</a:t>
            </a:r>
            <a:endParaRPr lang="en-US" sz="1400" dirty="0"/>
          </a:p>
        </p:txBody>
      </p:sp>
      <p:sp>
        <p:nvSpPr>
          <p:cNvPr id="3" name="Text 1"/>
          <p:cNvSpPr>
            <a:spLocks noGrp="1"/>
          </p:cNvSpPr>
          <p:nvPr>
            <p:ph type="title"/>
          </p:nvPr>
        </p:nvSpPr>
        <p:spPr>
          <a:xfrm>
            <a:off x="812780" y="2674561"/>
            <a:ext cx="9810750" cy="2037080"/>
          </a:xfrm>
          <a:prstGeom prst="rect">
            <a:avLst/>
          </a:prstGeom>
          <a:noFill/>
          <a:ln/>
        </p:spPr>
        <p:txBody>
          <a:bodyPr wrap="square" lIns="0" tIns="0" rIns="0" bIns="0" rtlCol="0" anchor="t">
            <a:normAutofit/>
          </a:bodyPr>
          <a:lstStyle/>
          <a:p>
            <a:pPr marL="0" indent="0" algn="l">
              <a:lnSpc>
                <a:spcPts val="5280"/>
              </a:lnSpc>
              <a:buNone/>
            </a:pPr>
            <a:r>
              <a:rPr lang="en-US" sz="3600" b="0" i="0" dirty="0">
                <a:solidFill>
                  <a:srgbClr val="14213D"/>
                </a:solidFill>
                <a:latin typeface="EB Garamond" pitchFamily="18" charset="0"/>
                <a:ea typeface="EB Garamond" pitchFamily="18" charset="-122"/>
                <a:cs typeface="EB Garamond" pitchFamily="18" charset="-120"/>
              </a:rPr>
              <a:t>Where does the CNN go wrong, and can a map of its embeddings show us why?</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ROADMAP</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Four phases, two completed so far</a:t>
            </a:r>
            <a:endParaRPr lang="en-US" sz="3200" dirty="0"/>
          </a:p>
        </p:txBody>
      </p:sp>
      <p:sp>
        <p:nvSpPr>
          <p:cNvPr id="4" name="Shape 2"/>
          <p:cNvSpPr/>
          <p:nvPr/>
        </p:nvSpPr>
        <p:spPr>
          <a:xfrm>
            <a:off x="819130" y="1885871"/>
            <a:ext cx="2514580" cy="1678821"/>
          </a:xfrm>
          <a:prstGeom prst="roundRect">
            <a:avLst>
              <a:gd name="adj" fmla="val 5674"/>
            </a:avLst>
          </a:prstGeom>
          <a:solidFill>
            <a:srgbClr val="FFFEFA"/>
          </a:solidFill>
          <a:ln w="12700">
            <a:solidFill>
              <a:srgbClr val="D9D4C7"/>
            </a:solidFill>
            <a:prstDash val="solid"/>
          </a:ln>
        </p:spPr>
        <p:txBody>
          <a:bodyPr/>
          <a:lstStyle/>
          <a:p>
            <a:endParaRPr lang="en-US"/>
          </a:p>
        </p:txBody>
      </p:sp>
      <p:sp>
        <p:nvSpPr>
          <p:cNvPr id="5" name="Text 3"/>
          <p:cNvSpPr/>
          <p:nvPr/>
        </p:nvSpPr>
        <p:spPr>
          <a:xfrm>
            <a:off x="1027390" y="2094131"/>
            <a:ext cx="698480" cy="289560"/>
          </a:xfrm>
          <a:custGeom>
            <a:avLst/>
            <a:gdLst/>
            <a:ahLst/>
            <a:cxnLst/>
            <a:rect l="l" t="t" r="r" b="b"/>
            <a:pathLst>
              <a:path w="698480" h="289560">
                <a:moveTo>
                  <a:pt x="144780" y="0"/>
                </a:moveTo>
                <a:lnTo>
                  <a:pt x="553700" y="0"/>
                </a:lnTo>
                <a:arcTo wR="144780" hR="144780" stAng="16200000" swAng="5400000"/>
                <a:lnTo>
                  <a:pt x="698480" y="144780"/>
                </a:lnTo>
                <a:arcTo wR="144780" hR="144780" stAng="0" swAng="5400000"/>
                <a:lnTo>
                  <a:pt x="144780" y="289560"/>
                </a:lnTo>
                <a:arcTo wR="144780" hR="144780" stAng="5400000" swAng="5400000"/>
                <a:lnTo>
                  <a:pt x="0" y="144780"/>
                </a:lnTo>
                <a:arcTo wR="144780" hR="144780" stAng="10800000" swAng="5400000"/>
                <a:close/>
              </a:path>
            </a:pathLst>
          </a:custGeom>
          <a:solidFill>
            <a:srgbClr val="14213D"/>
          </a:solidFill>
          <a:ln/>
        </p:spPr>
        <p:txBody>
          <a:bodyPr wrap="square" lIns="101600" tIns="38100" rIns="101600" bIns="12700" rtlCol="0" anchor="t">
            <a:normAutofit/>
          </a:bodyPr>
          <a:lstStyle/>
          <a:p>
            <a:pPr marL="0" indent="0" algn="ctr">
              <a:lnSpc>
                <a:spcPts val="1680"/>
              </a:lnSpc>
              <a:buNone/>
            </a:pPr>
            <a:r>
              <a:rPr lang="en-US" sz="1200" b="1" dirty="0">
                <a:solidFill>
                  <a:srgbClr val="F7F5F0"/>
                </a:solidFill>
                <a:latin typeface="IBM Plex Sans" pitchFamily="34" charset="0"/>
                <a:ea typeface="IBM Plex Sans" pitchFamily="34" charset="-122"/>
                <a:cs typeface="IBM Plex Sans" pitchFamily="34" charset="-120"/>
              </a:rPr>
              <a:t>Done</a:t>
            </a:r>
            <a:endParaRPr lang="en-US" sz="1200" dirty="0"/>
          </a:p>
        </p:txBody>
      </p:sp>
      <p:sp>
        <p:nvSpPr>
          <p:cNvPr id="6" name="Text 4"/>
          <p:cNvSpPr/>
          <p:nvPr/>
        </p:nvSpPr>
        <p:spPr>
          <a:xfrm>
            <a:off x="1027390" y="2485251"/>
            <a:ext cx="216100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84B0E"/>
                </a:solidFill>
                <a:latin typeface="IBM Plex Sans" pitchFamily="34" charset="0"/>
                <a:ea typeface="IBM Plex Sans" pitchFamily="34" charset="-122"/>
                <a:cs typeface="IBM Plex Sans" pitchFamily="34" charset="-120"/>
              </a:rPr>
              <a:t>Phase 1</a:t>
            </a:r>
            <a:endParaRPr lang="en-US" sz="1800" dirty="0"/>
          </a:p>
        </p:txBody>
      </p:sp>
      <p:sp>
        <p:nvSpPr>
          <p:cNvPr id="7" name="Text 5"/>
          <p:cNvSpPr/>
          <p:nvPr/>
        </p:nvSpPr>
        <p:spPr>
          <a:xfrm>
            <a:off x="1027390" y="2861132"/>
            <a:ext cx="2299970"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IBM Plex Sans" pitchFamily="34" charset="0"/>
                <a:ea typeface="IBM Plex Sans" pitchFamily="34" charset="-122"/>
                <a:cs typeface="IBM Plex Sans" pitchFamily="34" charset="-120"/>
              </a:rPr>
              <a:t>Baseline CNN on MNIST</a:t>
            </a:r>
            <a:endParaRPr lang="en-US" sz="1500" dirty="0"/>
          </a:p>
        </p:txBody>
      </p:sp>
      <p:sp>
        <p:nvSpPr>
          <p:cNvPr id="8" name="Shape 6"/>
          <p:cNvSpPr/>
          <p:nvPr/>
        </p:nvSpPr>
        <p:spPr>
          <a:xfrm>
            <a:off x="3498810" y="1885871"/>
            <a:ext cx="2514640" cy="1678821"/>
          </a:xfrm>
          <a:prstGeom prst="roundRect">
            <a:avLst>
              <a:gd name="adj" fmla="val 5674"/>
            </a:avLst>
          </a:prstGeom>
          <a:solidFill>
            <a:srgbClr val="FFFEFA"/>
          </a:solidFill>
          <a:ln w="12700">
            <a:solidFill>
              <a:srgbClr val="D9D4C7"/>
            </a:solidFill>
            <a:prstDash val="solid"/>
          </a:ln>
        </p:spPr>
        <p:txBody>
          <a:bodyPr/>
          <a:lstStyle/>
          <a:p>
            <a:endParaRPr lang="en-US"/>
          </a:p>
        </p:txBody>
      </p:sp>
      <p:sp>
        <p:nvSpPr>
          <p:cNvPr id="9" name="Text 7"/>
          <p:cNvSpPr/>
          <p:nvPr/>
        </p:nvSpPr>
        <p:spPr>
          <a:xfrm>
            <a:off x="3707071" y="2094131"/>
            <a:ext cx="698480" cy="289560"/>
          </a:xfrm>
          <a:custGeom>
            <a:avLst/>
            <a:gdLst/>
            <a:ahLst/>
            <a:cxnLst/>
            <a:rect l="l" t="t" r="r" b="b"/>
            <a:pathLst>
              <a:path w="698480" h="289560">
                <a:moveTo>
                  <a:pt x="144780" y="0"/>
                </a:moveTo>
                <a:lnTo>
                  <a:pt x="553700" y="0"/>
                </a:lnTo>
                <a:arcTo wR="144780" hR="144780" stAng="16200000" swAng="5400000"/>
                <a:lnTo>
                  <a:pt x="698480" y="144780"/>
                </a:lnTo>
                <a:arcTo wR="144780" hR="144780" stAng="0" swAng="5400000"/>
                <a:lnTo>
                  <a:pt x="144780" y="289560"/>
                </a:lnTo>
                <a:arcTo wR="144780" hR="144780" stAng="5400000" swAng="5400000"/>
                <a:lnTo>
                  <a:pt x="0" y="144780"/>
                </a:lnTo>
                <a:arcTo wR="144780" hR="144780" stAng="10800000" swAng="5400000"/>
                <a:close/>
              </a:path>
            </a:pathLst>
          </a:custGeom>
          <a:solidFill>
            <a:srgbClr val="14213D"/>
          </a:solidFill>
          <a:ln/>
        </p:spPr>
        <p:txBody>
          <a:bodyPr wrap="square" lIns="101600" tIns="38100" rIns="101600" bIns="12700" rtlCol="0" anchor="t">
            <a:normAutofit/>
          </a:bodyPr>
          <a:lstStyle/>
          <a:p>
            <a:pPr marL="0" indent="0" algn="ctr">
              <a:lnSpc>
                <a:spcPts val="1680"/>
              </a:lnSpc>
              <a:buNone/>
            </a:pPr>
            <a:r>
              <a:rPr lang="en-US" sz="1200" b="1" dirty="0">
                <a:solidFill>
                  <a:srgbClr val="F7F5F0"/>
                </a:solidFill>
                <a:latin typeface="IBM Plex Sans" pitchFamily="34" charset="0"/>
                <a:ea typeface="IBM Plex Sans" pitchFamily="34" charset="-122"/>
                <a:cs typeface="IBM Plex Sans" pitchFamily="34" charset="-120"/>
              </a:rPr>
              <a:t>Done</a:t>
            </a:r>
            <a:endParaRPr lang="en-US" sz="1200" dirty="0"/>
          </a:p>
        </p:txBody>
      </p:sp>
      <p:sp>
        <p:nvSpPr>
          <p:cNvPr id="10" name="Text 8"/>
          <p:cNvSpPr/>
          <p:nvPr/>
        </p:nvSpPr>
        <p:spPr>
          <a:xfrm>
            <a:off x="3707071" y="2485251"/>
            <a:ext cx="21610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84B0E"/>
                </a:solidFill>
                <a:latin typeface="IBM Plex Sans" pitchFamily="34" charset="0"/>
                <a:ea typeface="IBM Plex Sans" pitchFamily="34" charset="-122"/>
                <a:cs typeface="IBM Plex Sans" pitchFamily="34" charset="-120"/>
              </a:rPr>
              <a:t>Phase 2</a:t>
            </a:r>
            <a:endParaRPr lang="en-US" sz="1800" dirty="0"/>
          </a:p>
        </p:txBody>
      </p:sp>
      <p:sp>
        <p:nvSpPr>
          <p:cNvPr id="11" name="Text 9"/>
          <p:cNvSpPr/>
          <p:nvPr/>
        </p:nvSpPr>
        <p:spPr>
          <a:xfrm>
            <a:off x="3707071" y="2861132"/>
            <a:ext cx="2161063" cy="52070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IBM Plex Sans" pitchFamily="34" charset="0"/>
                <a:ea typeface="IBM Plex Sans" pitchFamily="34" charset="-122"/>
                <a:cs typeface="IBM Plex Sans" pitchFamily="34" charset="-120"/>
              </a:rPr>
              <a:t>SOM training, cluster analysis, error patterns</a:t>
            </a:r>
            <a:endParaRPr lang="en-US" sz="1500" dirty="0"/>
          </a:p>
        </p:txBody>
      </p:sp>
      <p:sp>
        <p:nvSpPr>
          <p:cNvPr id="12" name="Shape 10"/>
          <p:cNvSpPr/>
          <p:nvPr/>
        </p:nvSpPr>
        <p:spPr>
          <a:xfrm>
            <a:off x="6178550" y="1885871"/>
            <a:ext cx="2514580" cy="1678821"/>
          </a:xfrm>
          <a:prstGeom prst="roundRect">
            <a:avLst>
              <a:gd name="adj" fmla="val 5674"/>
            </a:avLst>
          </a:prstGeom>
          <a:solidFill>
            <a:srgbClr val="FFFEFA"/>
          </a:solidFill>
          <a:ln w="12700">
            <a:solidFill>
              <a:srgbClr val="D9D4C7"/>
            </a:solidFill>
            <a:prstDash val="solid"/>
          </a:ln>
        </p:spPr>
        <p:txBody>
          <a:bodyPr/>
          <a:lstStyle/>
          <a:p>
            <a:endParaRPr lang="en-US"/>
          </a:p>
        </p:txBody>
      </p:sp>
      <p:sp>
        <p:nvSpPr>
          <p:cNvPr id="13" name="Text 11"/>
          <p:cNvSpPr/>
          <p:nvPr/>
        </p:nvSpPr>
        <p:spPr>
          <a:xfrm>
            <a:off x="6386811" y="2094131"/>
            <a:ext cx="698480" cy="289560"/>
          </a:xfrm>
          <a:custGeom>
            <a:avLst/>
            <a:gdLst/>
            <a:ahLst/>
            <a:cxnLst/>
            <a:rect l="l" t="t" r="r" b="b"/>
            <a:pathLst>
              <a:path w="698480" h="289560">
                <a:moveTo>
                  <a:pt x="144780" y="0"/>
                </a:moveTo>
                <a:lnTo>
                  <a:pt x="553700" y="0"/>
                </a:lnTo>
                <a:arcTo wR="144780" hR="144780" stAng="16200000" swAng="5400000"/>
                <a:lnTo>
                  <a:pt x="698480" y="144780"/>
                </a:lnTo>
                <a:arcTo wR="144780" hR="144780" stAng="0" swAng="5400000"/>
                <a:lnTo>
                  <a:pt x="144780" y="289560"/>
                </a:lnTo>
                <a:arcTo wR="144780" hR="144780" stAng="5400000" swAng="5400000"/>
                <a:lnTo>
                  <a:pt x="0" y="144780"/>
                </a:lnTo>
                <a:arcTo wR="144780" hR="144780" stAng="10800000" swAng="5400000"/>
                <a:close/>
              </a:path>
            </a:pathLst>
          </a:custGeom>
          <a:solidFill>
            <a:srgbClr val="E9E3D2"/>
          </a:solidFill>
          <a:ln/>
        </p:spPr>
        <p:txBody>
          <a:bodyPr wrap="square" lIns="101600" tIns="38100" rIns="101600" bIns="12700" rtlCol="0" anchor="t">
            <a:normAutofit/>
          </a:bodyPr>
          <a:lstStyle/>
          <a:p>
            <a:pPr marL="0" indent="0" algn="ct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Next</a:t>
            </a:r>
            <a:endParaRPr lang="en-US" sz="1200" dirty="0"/>
          </a:p>
        </p:txBody>
      </p:sp>
      <p:sp>
        <p:nvSpPr>
          <p:cNvPr id="14" name="Text 12"/>
          <p:cNvSpPr/>
          <p:nvPr/>
        </p:nvSpPr>
        <p:spPr>
          <a:xfrm>
            <a:off x="6386811" y="2485251"/>
            <a:ext cx="216100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4A5568"/>
                </a:solidFill>
                <a:latin typeface="IBM Plex Sans" pitchFamily="34" charset="0"/>
                <a:ea typeface="IBM Plex Sans" pitchFamily="34" charset="-122"/>
                <a:cs typeface="IBM Plex Sans" pitchFamily="34" charset="-120"/>
              </a:rPr>
              <a:t>Phase 3</a:t>
            </a:r>
            <a:endParaRPr lang="en-US" sz="1800" dirty="0"/>
          </a:p>
        </p:txBody>
      </p:sp>
      <p:sp>
        <p:nvSpPr>
          <p:cNvPr id="15" name="Text 13"/>
          <p:cNvSpPr/>
          <p:nvPr/>
        </p:nvSpPr>
        <p:spPr>
          <a:xfrm>
            <a:off x="6386811" y="2861132"/>
            <a:ext cx="2161002"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IBM Plex Sans" pitchFamily="34" charset="0"/>
                <a:ea typeface="IBM Plex Sans" pitchFamily="34" charset="-122"/>
                <a:cs typeface="IBM Plex Sans" pitchFamily="34" charset="-120"/>
              </a:rPr>
              <a:t>Novelty detection</a:t>
            </a:r>
            <a:endParaRPr lang="en-US" sz="1500" dirty="0"/>
          </a:p>
        </p:txBody>
      </p:sp>
      <p:sp>
        <p:nvSpPr>
          <p:cNvPr id="16" name="Shape 14"/>
          <p:cNvSpPr/>
          <p:nvPr/>
        </p:nvSpPr>
        <p:spPr>
          <a:xfrm>
            <a:off x="8858231" y="1885871"/>
            <a:ext cx="2514640" cy="1678821"/>
          </a:xfrm>
          <a:prstGeom prst="roundRect">
            <a:avLst>
              <a:gd name="adj" fmla="val 5674"/>
            </a:avLst>
          </a:prstGeom>
          <a:solidFill>
            <a:srgbClr val="FFFEFA"/>
          </a:solidFill>
          <a:ln w="12700">
            <a:solidFill>
              <a:srgbClr val="D9D4C7"/>
            </a:solidFill>
            <a:prstDash val="solid"/>
          </a:ln>
        </p:spPr>
        <p:txBody>
          <a:bodyPr/>
          <a:lstStyle/>
          <a:p>
            <a:endParaRPr lang="en-US"/>
          </a:p>
        </p:txBody>
      </p:sp>
      <p:sp>
        <p:nvSpPr>
          <p:cNvPr id="17" name="Text 15"/>
          <p:cNvSpPr/>
          <p:nvPr/>
        </p:nvSpPr>
        <p:spPr>
          <a:xfrm>
            <a:off x="9066491" y="2094131"/>
            <a:ext cx="698480" cy="289560"/>
          </a:xfrm>
          <a:custGeom>
            <a:avLst/>
            <a:gdLst/>
            <a:ahLst/>
            <a:cxnLst/>
            <a:rect l="l" t="t" r="r" b="b"/>
            <a:pathLst>
              <a:path w="698480" h="289560">
                <a:moveTo>
                  <a:pt x="144780" y="0"/>
                </a:moveTo>
                <a:lnTo>
                  <a:pt x="553700" y="0"/>
                </a:lnTo>
                <a:arcTo wR="144780" hR="144780" stAng="16200000" swAng="5400000"/>
                <a:lnTo>
                  <a:pt x="698480" y="144780"/>
                </a:lnTo>
                <a:arcTo wR="144780" hR="144780" stAng="0" swAng="5400000"/>
                <a:lnTo>
                  <a:pt x="144780" y="289560"/>
                </a:lnTo>
                <a:arcTo wR="144780" hR="144780" stAng="5400000" swAng="5400000"/>
                <a:lnTo>
                  <a:pt x="0" y="144780"/>
                </a:lnTo>
                <a:arcTo wR="144780" hR="144780" stAng="10800000" swAng="5400000"/>
                <a:close/>
              </a:path>
            </a:pathLst>
          </a:custGeom>
          <a:solidFill>
            <a:srgbClr val="E9E3D2"/>
          </a:solidFill>
          <a:ln/>
        </p:spPr>
        <p:txBody>
          <a:bodyPr wrap="square" lIns="101600" tIns="38100" rIns="101600" bIns="12700" rtlCol="0" anchor="t">
            <a:normAutofit/>
          </a:bodyPr>
          <a:lstStyle/>
          <a:p>
            <a:pPr marL="0" indent="0" algn="ctr">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Next</a:t>
            </a:r>
            <a:endParaRPr lang="en-US" sz="1200" dirty="0"/>
          </a:p>
        </p:txBody>
      </p:sp>
      <p:sp>
        <p:nvSpPr>
          <p:cNvPr id="18" name="Text 16"/>
          <p:cNvSpPr/>
          <p:nvPr/>
        </p:nvSpPr>
        <p:spPr>
          <a:xfrm>
            <a:off x="9066491" y="2485251"/>
            <a:ext cx="21610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4A5568"/>
                </a:solidFill>
                <a:latin typeface="IBM Plex Sans" pitchFamily="34" charset="0"/>
                <a:ea typeface="IBM Plex Sans" pitchFamily="34" charset="-122"/>
                <a:cs typeface="IBM Plex Sans" pitchFamily="34" charset="-120"/>
              </a:rPr>
              <a:t>Phase 4</a:t>
            </a:r>
            <a:endParaRPr lang="en-US" sz="1800" dirty="0"/>
          </a:p>
        </p:txBody>
      </p:sp>
      <p:sp>
        <p:nvSpPr>
          <p:cNvPr id="19" name="Text 17"/>
          <p:cNvSpPr/>
          <p:nvPr/>
        </p:nvSpPr>
        <p:spPr>
          <a:xfrm>
            <a:off x="9066491" y="2861132"/>
            <a:ext cx="2161063"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14213D"/>
                </a:solidFill>
                <a:latin typeface="IBM Plex Sans" pitchFamily="34" charset="0"/>
                <a:ea typeface="IBM Plex Sans" pitchFamily="34" charset="-122"/>
                <a:cs typeface="IBM Plex Sans" pitchFamily="34" charset="-120"/>
              </a:rPr>
              <a:t>Guided retraining</a:t>
            </a:r>
            <a:endParaRPr lang="en-US" sz="1500" dirty="0"/>
          </a:p>
        </p:txBody>
      </p:sp>
      <p:sp>
        <p:nvSpPr>
          <p:cNvPr id="20" name="Text 18"/>
          <p:cNvSpPr/>
          <p:nvPr/>
        </p:nvSpPr>
        <p:spPr>
          <a:xfrm>
            <a:off x="812780" y="5557600"/>
            <a:ext cx="10883434"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Today we cover Phases 1 and 2: from the baseline CNN through the error-pattern analysis.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END-TO-END PROCESS</a:t>
            </a:r>
            <a:endParaRPr lang="en-US" sz="1200" dirty="0"/>
          </a:p>
        </p:txBody>
      </p:sp>
      <p:sp>
        <p:nvSpPr>
          <p:cNvPr id="3" name="Text 1"/>
          <p:cNvSpPr>
            <a:spLocks noGrp="1"/>
          </p:cNvSpPr>
          <p:nvPr>
            <p:ph type="title"/>
          </p:nvPr>
        </p:nvSpPr>
        <p:spPr>
          <a:xfrm>
            <a:off x="812780" y="11531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CNN alone against the SOM-assisted CNN</a:t>
            </a:r>
            <a:endParaRPr lang="en-US" sz="3200" dirty="0"/>
          </a:p>
        </p:txBody>
      </p:sp>
      <p:sp>
        <p:nvSpPr>
          <p:cNvPr id="4" name="Text 2"/>
          <p:cNvSpPr/>
          <p:nvPr/>
        </p:nvSpPr>
        <p:spPr>
          <a:xfrm>
            <a:off x="812780" y="1828719"/>
            <a:ext cx="10883434" cy="27426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B0E"/>
                </a:solidFill>
                <a:latin typeface="IBM Plex Sans" pitchFamily="34" charset="0"/>
                <a:ea typeface="IBM Plex Sans" pitchFamily="34" charset="-122"/>
                <a:cs typeface="IBM Plex Sans" pitchFamily="34" charset="-120"/>
              </a:rPr>
              <a:t>Path 1 · CNN only</a:t>
            </a:r>
            <a:endParaRPr lang="en-US" sz="1400" dirty="0"/>
          </a:p>
        </p:txBody>
      </p:sp>
      <p:sp>
        <p:nvSpPr>
          <p:cNvPr id="5" name="Text 3"/>
          <p:cNvSpPr/>
          <p:nvPr/>
        </p:nvSpPr>
        <p:spPr>
          <a:xfrm>
            <a:off x="819130" y="2210910"/>
            <a:ext cx="1257280" cy="685780"/>
          </a:xfrm>
          <a:prstGeom prst="roundRect">
            <a:avLst>
              <a:gd name="adj" fmla="val 10185"/>
            </a:avLst>
          </a:prstGeom>
          <a:solidFill>
            <a:srgbClr val="FFFEFA"/>
          </a:solidFill>
          <a:ln w="12700">
            <a:solidFill>
              <a:srgbClr val="14213D"/>
            </a:solidFill>
            <a:prstDash val="solid"/>
          </a:ln>
        </p:spPr>
        <p:txBody>
          <a:bodyPr wrap="square" lIns="228184" tIns="0" rIns="228184" bIns="0" rtlCol="0" anchor="ctr">
            <a:normAutofit/>
          </a:bodyPr>
          <a:lstStyle/>
          <a:p>
            <a:pPr marL="0" indent="0" algn="ctr">
              <a:lnSpc>
                <a:spcPts val="1680"/>
              </a:lnSpc>
              <a:buNone/>
            </a:pPr>
            <a:r>
              <a:rPr lang="en-US" sz="1400" dirty="0">
                <a:solidFill>
                  <a:srgbClr val="14213D"/>
                </a:solidFill>
                <a:latin typeface="IBM Plex Sans" pitchFamily="34" charset="0"/>
                <a:ea typeface="IBM Plex Sans" pitchFamily="34" charset="-122"/>
                <a:cs typeface="IBM Plex Sans" pitchFamily="34" charset="-120"/>
              </a:rPr>
              <a:t>Sample</a:t>
            </a:r>
            <a:endParaRPr lang="en-US" sz="1400" dirty="0"/>
          </a:p>
          <a:p>
            <a:pPr marL="0" indent="0" algn="ctr">
              <a:lnSpc>
                <a:spcPts val="1680"/>
              </a:lnSpc>
              <a:buNone/>
            </a:pPr>
            <a:r>
              <a:rPr lang="en-US" sz="1400" dirty="0">
                <a:solidFill>
                  <a:srgbClr val="14213D"/>
                </a:solidFill>
                <a:latin typeface="IBM Plex Sans" pitchFamily="34" charset="0"/>
                <a:ea typeface="IBM Plex Sans" pitchFamily="34" charset="-122"/>
                <a:cs typeface="IBM Plex Sans" pitchFamily="34" charset="-120"/>
              </a:rPr>
              <a:t>(NumPy)</a:t>
            </a:r>
            <a:endParaRPr lang="en-US" sz="1400" dirty="0"/>
          </a:p>
        </p:txBody>
      </p:sp>
      <p:pic>
        <p:nvPicPr>
          <p:cNvPr id="6" name="Image 0" descr="line"/>
          <p:cNvPicPr>
            <a:picLocks noChangeAspect="1"/>
          </p:cNvPicPr>
          <p:nvPr/>
        </p:nvPicPr>
        <p:blipFill>
          <a:blip r:embed="rId3"/>
          <a:srcRect l="-79" r="-79"/>
          <a:stretch/>
        </p:blipFill>
        <p:spPr>
          <a:xfrm>
            <a:off x="2082760" y="2541091"/>
            <a:ext cx="3429000" cy="25360"/>
          </a:xfrm>
          <a:prstGeom prst="rect">
            <a:avLst/>
          </a:prstGeom>
        </p:spPr>
      </p:pic>
      <p:pic>
        <p:nvPicPr>
          <p:cNvPr id="7" name="Image 1" descr="arrow-right"/>
          <p:cNvPicPr>
            <a:picLocks noChangeAspect="1"/>
          </p:cNvPicPr>
          <p:nvPr/>
        </p:nvPicPr>
        <p:blipFill>
          <a:blip r:embed="rId4"/>
          <a:srcRect t="-5" b="-5"/>
          <a:stretch/>
        </p:blipFill>
        <p:spPr>
          <a:xfrm>
            <a:off x="5511760" y="2458521"/>
            <a:ext cx="406360" cy="190500"/>
          </a:xfrm>
          <a:prstGeom prst="rect">
            <a:avLst/>
          </a:prstGeom>
        </p:spPr>
      </p:pic>
      <p:sp>
        <p:nvSpPr>
          <p:cNvPr id="8" name="Text 4"/>
          <p:cNvSpPr/>
          <p:nvPr/>
        </p:nvSpPr>
        <p:spPr>
          <a:xfrm>
            <a:off x="5918121" y="2204560"/>
            <a:ext cx="1269980" cy="698480"/>
          </a:xfrm>
          <a:prstGeom prst="roundRect">
            <a:avLst>
              <a:gd name="adj" fmla="val 10909"/>
            </a:avLst>
          </a:prstGeom>
          <a:solidFill>
            <a:srgbClr val="14213D"/>
          </a:solidFill>
          <a:ln/>
        </p:spPr>
        <p:txBody>
          <a:bodyPr wrap="square" lIns="0" tIns="0" rIns="0" bIns="0" rtlCol="0" anchor="ctr">
            <a:normAutofit/>
          </a:bodyPr>
          <a:lstStyle/>
          <a:p>
            <a:pPr marL="0" indent="0" algn="ctr">
              <a:lnSpc>
                <a:spcPts val="2100"/>
              </a:lnSpc>
              <a:buNone/>
            </a:pPr>
            <a:r>
              <a:rPr lang="en-US" sz="1500" b="1" dirty="0">
                <a:solidFill>
                  <a:srgbClr val="F7F5F0"/>
                </a:solidFill>
                <a:latin typeface="IBM Plex Sans" pitchFamily="34" charset="0"/>
                <a:ea typeface="IBM Plex Sans" pitchFamily="34" charset="-122"/>
                <a:cs typeface="IBM Plex Sans" pitchFamily="34" charset="-120"/>
              </a:rPr>
              <a:t>CNN</a:t>
            </a:r>
            <a:endParaRPr lang="en-US" sz="1500" dirty="0"/>
          </a:p>
        </p:txBody>
      </p:sp>
      <p:pic>
        <p:nvPicPr>
          <p:cNvPr id="9" name="Image 2" descr="arrow-right"/>
          <p:cNvPicPr>
            <a:picLocks noChangeAspect="1"/>
          </p:cNvPicPr>
          <p:nvPr/>
        </p:nvPicPr>
        <p:blipFill>
          <a:blip r:embed="rId5"/>
          <a:srcRect l="-11" r="-11"/>
          <a:stretch/>
        </p:blipFill>
        <p:spPr>
          <a:xfrm>
            <a:off x="7251561" y="2464891"/>
            <a:ext cx="304800" cy="177760"/>
          </a:xfrm>
          <a:prstGeom prst="rect">
            <a:avLst/>
          </a:prstGeom>
        </p:spPr>
      </p:pic>
      <p:sp>
        <p:nvSpPr>
          <p:cNvPr id="10" name="Text 5"/>
          <p:cNvSpPr/>
          <p:nvPr/>
        </p:nvSpPr>
        <p:spPr>
          <a:xfrm>
            <a:off x="7626231" y="2210910"/>
            <a:ext cx="1257280" cy="685780"/>
          </a:xfrm>
          <a:prstGeom prst="roundRect">
            <a:avLst>
              <a:gd name="adj" fmla="val 10185"/>
            </a:avLst>
          </a:prstGeom>
          <a:solidFill>
            <a:srgbClr val="FFFEFA"/>
          </a:solidFill>
          <a:ln w="12700">
            <a:solidFill>
              <a:srgbClr val="14213D"/>
            </a:solidFill>
            <a:prstDash val="solid"/>
          </a:ln>
        </p:spPr>
        <p:txBody>
          <a:bodyPr wrap="square" lIns="0" tIns="0" rIns="0" bIns="0" rtlCol="0" anchor="ctr">
            <a:normAutofit/>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Prediction</a:t>
            </a:r>
            <a:endParaRPr lang="en-US" sz="1400" dirty="0"/>
          </a:p>
        </p:txBody>
      </p:sp>
      <p:pic>
        <p:nvPicPr>
          <p:cNvPr id="11" name="Image 3" descr="arrow-right"/>
          <p:cNvPicPr>
            <a:picLocks noChangeAspect="1"/>
          </p:cNvPicPr>
          <p:nvPr/>
        </p:nvPicPr>
        <p:blipFill>
          <a:blip r:embed="rId5"/>
          <a:srcRect l="-11" r="-11"/>
          <a:stretch/>
        </p:blipFill>
        <p:spPr>
          <a:xfrm>
            <a:off x="8953322" y="2464891"/>
            <a:ext cx="304800" cy="177760"/>
          </a:xfrm>
          <a:prstGeom prst="rect">
            <a:avLst/>
          </a:prstGeom>
        </p:spPr>
      </p:pic>
      <p:sp>
        <p:nvSpPr>
          <p:cNvPr id="12" name="Text 6"/>
          <p:cNvSpPr/>
          <p:nvPr/>
        </p:nvSpPr>
        <p:spPr>
          <a:xfrm>
            <a:off x="9331167" y="2214085"/>
            <a:ext cx="1250930" cy="679430"/>
          </a:xfrm>
          <a:prstGeom prst="roundRect">
            <a:avLst>
              <a:gd name="adj" fmla="val 9813"/>
            </a:avLst>
          </a:prstGeom>
          <a:solidFill>
            <a:srgbClr val="DCE7F5"/>
          </a:solidFill>
          <a:ln w="19050">
            <a:solidFill>
              <a:srgbClr val="2F6FB0"/>
            </a:solidFill>
            <a:prstDash val="solid"/>
          </a:ln>
        </p:spPr>
        <p:txBody>
          <a:bodyPr wrap="square" lIns="0" tIns="0" rIns="0" bIns="0" rtlCol="0" anchor="ctr">
            <a:normAutofit/>
          </a:bodyPr>
          <a:lstStyle/>
          <a:p>
            <a:pPr marL="0" indent="0" algn="ct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CF1</a:t>
            </a:r>
            <a:endParaRPr lang="en-US" sz="1600" dirty="0"/>
          </a:p>
        </p:txBody>
      </p:sp>
      <p:sp>
        <p:nvSpPr>
          <p:cNvPr id="13" name="Text 7"/>
          <p:cNvSpPr/>
          <p:nvPr/>
        </p:nvSpPr>
        <p:spPr>
          <a:xfrm>
            <a:off x="6473190" y="3096040"/>
            <a:ext cx="2747010" cy="27430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4A5568"/>
                </a:solidFill>
                <a:latin typeface="IBM Plex Sans" pitchFamily="34" charset="0"/>
                <a:ea typeface="IBM Plex Sans" pitchFamily="34" charset="-122"/>
                <a:cs typeface="IBM Plex Sans" pitchFamily="34" charset="-120"/>
              </a:rPr>
              <a:t>Compare CF1 with CF2</a:t>
            </a:r>
            <a:endParaRPr lang="en-US" sz="1400" dirty="0"/>
          </a:p>
        </p:txBody>
      </p:sp>
      <p:pic>
        <p:nvPicPr>
          <p:cNvPr id="14" name="Image 4" descr="arrow-down"/>
          <p:cNvPicPr>
            <a:picLocks noChangeAspect="1"/>
          </p:cNvPicPr>
          <p:nvPr/>
        </p:nvPicPr>
        <p:blipFill>
          <a:blip r:embed="rId6"/>
          <a:srcRect/>
          <a:stretch/>
        </p:blipFill>
        <p:spPr>
          <a:xfrm>
            <a:off x="9842421" y="3030021"/>
            <a:ext cx="228600" cy="381000"/>
          </a:xfrm>
          <a:prstGeom prst="rect">
            <a:avLst/>
          </a:prstGeom>
        </p:spPr>
      </p:pic>
      <p:sp>
        <p:nvSpPr>
          <p:cNvPr id="15" name="Text 8"/>
          <p:cNvSpPr/>
          <p:nvPr/>
        </p:nvSpPr>
        <p:spPr>
          <a:xfrm>
            <a:off x="812780" y="3538001"/>
            <a:ext cx="10883434"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B0E"/>
                </a:solidFill>
                <a:latin typeface="IBM Plex Sans" pitchFamily="34" charset="0"/>
                <a:ea typeface="IBM Plex Sans" pitchFamily="34" charset="-122"/>
                <a:cs typeface="IBM Plex Sans" pitchFamily="34" charset="-120"/>
              </a:rPr>
              <a:t>Path 2 · SOM-assisted CNN</a:t>
            </a:r>
            <a:endParaRPr lang="en-US" sz="1400" dirty="0"/>
          </a:p>
        </p:txBody>
      </p:sp>
      <p:sp>
        <p:nvSpPr>
          <p:cNvPr id="16" name="Text 9"/>
          <p:cNvSpPr/>
          <p:nvPr/>
        </p:nvSpPr>
        <p:spPr>
          <a:xfrm>
            <a:off x="819130" y="3920232"/>
            <a:ext cx="1257280" cy="685780"/>
          </a:xfrm>
          <a:prstGeom prst="roundRect">
            <a:avLst>
              <a:gd name="adj" fmla="val 10185"/>
            </a:avLst>
          </a:prstGeom>
          <a:solidFill>
            <a:srgbClr val="FFFEFA"/>
          </a:solidFill>
          <a:ln w="12700">
            <a:solidFill>
              <a:srgbClr val="14213D"/>
            </a:solidFill>
            <a:prstDash val="solid"/>
          </a:ln>
        </p:spPr>
        <p:txBody>
          <a:bodyPr wrap="square" lIns="228184" tIns="0" rIns="228184" bIns="0" rtlCol="0" anchor="ctr">
            <a:normAutofit/>
          </a:bodyPr>
          <a:lstStyle/>
          <a:p>
            <a:pPr marL="0" indent="0" algn="ctr">
              <a:lnSpc>
                <a:spcPts val="1680"/>
              </a:lnSpc>
              <a:buNone/>
            </a:pPr>
            <a:r>
              <a:rPr lang="en-US" sz="1400" dirty="0">
                <a:solidFill>
                  <a:srgbClr val="14213D"/>
                </a:solidFill>
                <a:latin typeface="IBM Plex Sans" pitchFamily="34" charset="0"/>
                <a:ea typeface="IBM Plex Sans" pitchFamily="34" charset="-122"/>
                <a:cs typeface="IBM Plex Sans" pitchFamily="34" charset="-120"/>
              </a:rPr>
              <a:t>Sample</a:t>
            </a:r>
            <a:endParaRPr lang="en-US" sz="1400" dirty="0"/>
          </a:p>
          <a:p>
            <a:pPr marL="0" indent="0" algn="ctr">
              <a:lnSpc>
                <a:spcPts val="1680"/>
              </a:lnSpc>
              <a:buNone/>
            </a:pPr>
            <a:r>
              <a:rPr lang="en-US" sz="1400" dirty="0">
                <a:solidFill>
                  <a:srgbClr val="14213D"/>
                </a:solidFill>
                <a:latin typeface="IBM Plex Sans" pitchFamily="34" charset="0"/>
                <a:ea typeface="IBM Plex Sans" pitchFamily="34" charset="-122"/>
                <a:cs typeface="IBM Plex Sans" pitchFamily="34" charset="-120"/>
              </a:rPr>
              <a:t>(NumPy)</a:t>
            </a:r>
            <a:endParaRPr lang="en-US" sz="1400" dirty="0"/>
          </a:p>
        </p:txBody>
      </p:sp>
      <p:pic>
        <p:nvPicPr>
          <p:cNvPr id="17" name="Image 5" descr="arrow-right"/>
          <p:cNvPicPr>
            <a:picLocks noChangeAspect="1"/>
          </p:cNvPicPr>
          <p:nvPr/>
        </p:nvPicPr>
        <p:blipFill>
          <a:blip r:embed="rId5"/>
          <a:srcRect l="-11" r="-11"/>
          <a:stretch/>
        </p:blipFill>
        <p:spPr>
          <a:xfrm>
            <a:off x="2146221" y="4174212"/>
            <a:ext cx="304800" cy="177760"/>
          </a:xfrm>
          <a:prstGeom prst="rect">
            <a:avLst/>
          </a:prstGeom>
        </p:spPr>
      </p:pic>
      <p:sp>
        <p:nvSpPr>
          <p:cNvPr id="18" name="Text 10"/>
          <p:cNvSpPr/>
          <p:nvPr/>
        </p:nvSpPr>
        <p:spPr>
          <a:xfrm>
            <a:off x="2514541" y="3913882"/>
            <a:ext cx="1269980" cy="698480"/>
          </a:xfrm>
          <a:prstGeom prst="roundRect">
            <a:avLst>
              <a:gd name="adj" fmla="val 10909"/>
            </a:avLst>
          </a:prstGeom>
          <a:solidFill>
            <a:srgbClr val="E07A1F"/>
          </a:solidFill>
          <a:ln/>
        </p:spPr>
        <p:txBody>
          <a:bodyPr wrap="square" lIns="337211" tIns="0" rIns="337211" bIns="0" rtlCol="0" anchor="ctr">
            <a:normAutofit/>
          </a:bodyPr>
          <a:lstStyle/>
          <a:p>
            <a:pPr marL="0" indent="0" algn="ctr">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SOM /</a:t>
            </a:r>
            <a:endParaRPr lang="en-US" sz="1400" dirty="0"/>
          </a:p>
          <a:p>
            <a:pPr marL="0" indent="0" algn="ctr">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graph</a:t>
            </a:r>
            <a:endParaRPr lang="en-US" sz="1400" dirty="0"/>
          </a:p>
        </p:txBody>
      </p:sp>
      <p:pic>
        <p:nvPicPr>
          <p:cNvPr id="19" name="Image 6" descr="arrow-right"/>
          <p:cNvPicPr>
            <a:picLocks noChangeAspect="1"/>
          </p:cNvPicPr>
          <p:nvPr/>
        </p:nvPicPr>
        <p:blipFill>
          <a:blip r:embed="rId5"/>
          <a:srcRect l="-11" r="-11"/>
          <a:stretch/>
        </p:blipFill>
        <p:spPr>
          <a:xfrm>
            <a:off x="3847981" y="4174212"/>
            <a:ext cx="304800" cy="177760"/>
          </a:xfrm>
          <a:prstGeom prst="rect">
            <a:avLst/>
          </a:prstGeom>
        </p:spPr>
      </p:pic>
      <p:sp>
        <p:nvSpPr>
          <p:cNvPr id="20" name="Text 11"/>
          <p:cNvSpPr/>
          <p:nvPr/>
        </p:nvSpPr>
        <p:spPr>
          <a:xfrm>
            <a:off x="4216301" y="3913882"/>
            <a:ext cx="1269980" cy="698480"/>
          </a:xfrm>
          <a:prstGeom prst="roundRect">
            <a:avLst>
              <a:gd name="adj" fmla="val 10909"/>
            </a:avLst>
          </a:prstGeom>
          <a:solidFill>
            <a:srgbClr val="E07A1F"/>
          </a:solidFill>
          <a:ln/>
        </p:spPr>
        <p:txBody>
          <a:bodyPr wrap="square" lIns="0" tIns="0" rIns="0" bIns="0" rtlCol="0" anchor="ctr">
            <a:normAutofit/>
          </a:bodyPr>
          <a:lstStyle/>
          <a:p>
            <a:pPr marL="0" indent="0" algn="ctr">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Retrain</a:t>
            </a:r>
            <a:endParaRPr lang="en-US" sz="1400" dirty="0"/>
          </a:p>
        </p:txBody>
      </p:sp>
      <p:pic>
        <p:nvPicPr>
          <p:cNvPr id="21" name="Image 7" descr="arrow-right"/>
          <p:cNvPicPr>
            <a:picLocks noChangeAspect="1"/>
          </p:cNvPicPr>
          <p:nvPr/>
        </p:nvPicPr>
        <p:blipFill>
          <a:blip r:embed="rId5"/>
          <a:srcRect l="-11" r="-11"/>
          <a:stretch/>
        </p:blipFill>
        <p:spPr>
          <a:xfrm>
            <a:off x="5549741" y="4174212"/>
            <a:ext cx="304800" cy="177760"/>
          </a:xfrm>
          <a:prstGeom prst="rect">
            <a:avLst/>
          </a:prstGeom>
        </p:spPr>
      </p:pic>
      <p:sp>
        <p:nvSpPr>
          <p:cNvPr id="22" name="Text 12"/>
          <p:cNvSpPr/>
          <p:nvPr/>
        </p:nvSpPr>
        <p:spPr>
          <a:xfrm>
            <a:off x="5918061" y="3913882"/>
            <a:ext cx="1269980" cy="698480"/>
          </a:xfrm>
          <a:prstGeom prst="roundRect">
            <a:avLst>
              <a:gd name="adj" fmla="val 10909"/>
            </a:avLst>
          </a:prstGeom>
          <a:solidFill>
            <a:srgbClr val="14213D"/>
          </a:solidFill>
          <a:ln/>
        </p:spPr>
        <p:txBody>
          <a:bodyPr wrap="square" lIns="0" tIns="0" rIns="0" bIns="0" rtlCol="0" anchor="ctr">
            <a:normAutofit/>
          </a:bodyPr>
          <a:lstStyle/>
          <a:p>
            <a:pPr marL="0" indent="0" algn="ctr">
              <a:lnSpc>
                <a:spcPts val="2100"/>
              </a:lnSpc>
              <a:buNone/>
            </a:pPr>
            <a:r>
              <a:rPr lang="en-US" sz="1500" b="1" dirty="0">
                <a:solidFill>
                  <a:srgbClr val="F7F5F0"/>
                </a:solidFill>
                <a:latin typeface="IBM Plex Sans" pitchFamily="34" charset="0"/>
                <a:ea typeface="IBM Plex Sans" pitchFamily="34" charset="-122"/>
                <a:cs typeface="IBM Plex Sans" pitchFamily="34" charset="-120"/>
              </a:rPr>
              <a:t>CNN</a:t>
            </a:r>
            <a:endParaRPr lang="en-US" sz="1500" dirty="0"/>
          </a:p>
        </p:txBody>
      </p:sp>
      <p:pic>
        <p:nvPicPr>
          <p:cNvPr id="23" name="Image 8" descr="arrow-right"/>
          <p:cNvPicPr>
            <a:picLocks noChangeAspect="1"/>
          </p:cNvPicPr>
          <p:nvPr/>
        </p:nvPicPr>
        <p:blipFill>
          <a:blip r:embed="rId5"/>
          <a:srcRect l="-11" r="-11"/>
          <a:stretch/>
        </p:blipFill>
        <p:spPr>
          <a:xfrm>
            <a:off x="7251502" y="4174212"/>
            <a:ext cx="304800" cy="177760"/>
          </a:xfrm>
          <a:prstGeom prst="rect">
            <a:avLst/>
          </a:prstGeom>
        </p:spPr>
      </p:pic>
      <p:sp>
        <p:nvSpPr>
          <p:cNvPr id="24" name="Text 13"/>
          <p:cNvSpPr/>
          <p:nvPr/>
        </p:nvSpPr>
        <p:spPr>
          <a:xfrm>
            <a:off x="7626172" y="3920232"/>
            <a:ext cx="1257280" cy="685780"/>
          </a:xfrm>
          <a:prstGeom prst="roundRect">
            <a:avLst>
              <a:gd name="adj" fmla="val 10185"/>
            </a:avLst>
          </a:prstGeom>
          <a:solidFill>
            <a:srgbClr val="FFFEFA"/>
          </a:solidFill>
          <a:ln w="12700">
            <a:solidFill>
              <a:srgbClr val="14213D"/>
            </a:solidFill>
            <a:prstDash val="solid"/>
          </a:ln>
        </p:spPr>
        <p:txBody>
          <a:bodyPr wrap="square" lIns="0" tIns="0" rIns="0" bIns="0" rtlCol="0" anchor="ctr">
            <a:normAutofit/>
          </a:bodyPr>
          <a:lstStyle/>
          <a:p>
            <a:pPr marL="0" indent="0" algn="ctr">
              <a:lnSpc>
                <a:spcPts val="1960"/>
              </a:lnSpc>
              <a:buNone/>
            </a:pPr>
            <a:r>
              <a:rPr lang="en-US" sz="1400" dirty="0">
                <a:solidFill>
                  <a:srgbClr val="14213D"/>
                </a:solidFill>
                <a:latin typeface="IBM Plex Sans" pitchFamily="34" charset="0"/>
                <a:ea typeface="IBM Plex Sans" pitchFamily="34" charset="-122"/>
                <a:cs typeface="IBM Plex Sans" pitchFamily="34" charset="-120"/>
              </a:rPr>
              <a:t>Prediction</a:t>
            </a:r>
            <a:endParaRPr lang="en-US" sz="1400" dirty="0"/>
          </a:p>
        </p:txBody>
      </p:sp>
      <p:pic>
        <p:nvPicPr>
          <p:cNvPr id="25" name="Image 9" descr="arrow-right"/>
          <p:cNvPicPr>
            <a:picLocks noChangeAspect="1"/>
          </p:cNvPicPr>
          <p:nvPr/>
        </p:nvPicPr>
        <p:blipFill>
          <a:blip r:embed="rId5"/>
          <a:srcRect l="-11" r="-11"/>
          <a:stretch/>
        </p:blipFill>
        <p:spPr>
          <a:xfrm>
            <a:off x="8953262" y="4174212"/>
            <a:ext cx="304800" cy="177760"/>
          </a:xfrm>
          <a:prstGeom prst="rect">
            <a:avLst/>
          </a:prstGeom>
        </p:spPr>
      </p:pic>
      <p:sp>
        <p:nvSpPr>
          <p:cNvPr id="26" name="Text 14"/>
          <p:cNvSpPr/>
          <p:nvPr/>
        </p:nvSpPr>
        <p:spPr>
          <a:xfrm>
            <a:off x="9331107" y="3923407"/>
            <a:ext cx="1250930" cy="679430"/>
          </a:xfrm>
          <a:prstGeom prst="roundRect">
            <a:avLst>
              <a:gd name="adj" fmla="val 9813"/>
            </a:avLst>
          </a:prstGeom>
          <a:solidFill>
            <a:srgbClr val="DCE7F5"/>
          </a:solidFill>
          <a:ln w="19050">
            <a:solidFill>
              <a:srgbClr val="2F6FB0"/>
            </a:solidFill>
            <a:prstDash val="solid"/>
          </a:ln>
        </p:spPr>
        <p:txBody>
          <a:bodyPr wrap="square" lIns="0" tIns="0" rIns="0" bIns="0" rtlCol="0" anchor="ctr">
            <a:normAutofit/>
          </a:bodyPr>
          <a:lstStyle/>
          <a:p>
            <a:pPr marL="0" indent="0" algn="ctr">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CF2</a:t>
            </a:r>
            <a:endParaRPr lang="en-US" sz="1600" dirty="0"/>
          </a:p>
        </p:txBody>
      </p:sp>
      <p:sp>
        <p:nvSpPr>
          <p:cNvPr id="27" name="Text 15"/>
          <p:cNvSpPr/>
          <p:nvPr/>
        </p:nvSpPr>
        <p:spPr>
          <a:xfrm>
            <a:off x="812780" y="5344238"/>
            <a:ext cx="10883434"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Both paths run on the same test images. CF1 is the CNN-only confusion matrix, the same one as in Phase 1. CF2 is the confusion matrix after the SOM / graph stage. [TBD: one line on what the SOM / graph stage does to each sample.]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1 · BASELINE CNN</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LeNet-5 reaches 99.18% test accuracy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890952"/>
          <a:ext cx="4814531" cy="2880360"/>
        </p:xfrm>
        <a:graphic>
          <a:graphicData uri="http://schemas.openxmlformats.org/drawingml/2006/table">
            <a:tbl>
              <a:tblPr/>
              <a:tblGrid>
                <a:gridCol w="2792428">
                  <a:extLst>
                    <a:ext uri="{9D8B030D-6E8A-4147-A177-3AD203B41FA5}">
                      <a16:colId xmlns:a16="http://schemas.microsoft.com/office/drawing/2014/main" val="20000"/>
                    </a:ext>
                  </a:extLst>
                </a:gridCol>
                <a:gridCol w="2022103">
                  <a:extLst>
                    <a:ext uri="{9D8B030D-6E8A-4147-A177-3AD203B41FA5}">
                      <a16:colId xmlns:a16="http://schemas.microsoft.com/office/drawing/2014/main" val="20001"/>
                    </a:ext>
                  </a:extLst>
                </a:gridCol>
              </a:tblGrid>
              <a:tr h="411480">
                <a:tc>
                  <a:txBody>
                    <a:bodyPr/>
                    <a:lstStyle/>
                    <a:p>
                      <a:pPr marL="0" indent="0">
                        <a:lnSpc>
                          <a:spcPts val="2100"/>
                        </a:lnSpc>
                        <a:buNone/>
                      </a:pPr>
                      <a:r>
                        <a:rPr lang="en-US" sz="1500" b="1" dirty="0">
                          <a:solidFill>
                            <a:srgbClr val="F7F5F0"/>
                          </a:solidFill>
                          <a:latin typeface="IBM Plex Sans" pitchFamily="34" charset="0"/>
                          <a:ea typeface="IBM Plex Sans" pitchFamily="34" charset="-122"/>
                          <a:cs typeface="IBM Plex Sans" pitchFamily="34" charset="-120"/>
                        </a:rPr>
                        <a:t>Measure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7F5F0"/>
                          </a:solidFill>
                          <a:latin typeface="IBM Plex Sans" pitchFamily="34" charset="0"/>
                          <a:ea typeface="IBM Plex Sans" pitchFamily="34" charset="-122"/>
                          <a:cs typeface="IBM Plex Sans" pitchFamily="34" charset="-120"/>
                        </a:rPr>
                        <a:t>Value</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Test accuracy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A84B0E"/>
                          </a:solidFill>
                          <a:latin typeface="IBM Plex Sans" pitchFamily="34" charset="0"/>
                          <a:ea typeface="IBM Plex Sans" pitchFamily="34" charset="-122"/>
                          <a:cs typeface="IBM Plex Sans" pitchFamily="34" charset="-120"/>
                        </a:rPr>
                        <a:t>99.18%</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extLst>
                  <a:ext uri="{0D108BD9-81ED-4DB2-BD59-A6C34878D82A}">
                    <a16:rowId xmlns:a16="http://schemas.microsoft.com/office/drawing/2014/main" val="10001"/>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95% Wilson interval</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98.99–99.34%</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extLst>
                  <a:ext uri="{0D108BD9-81ED-4DB2-BD59-A6C34878D82A}">
                    <a16:rowId xmlns:a16="http://schemas.microsoft.com/office/drawing/2014/main" val="10002"/>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Macro F1-score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0.9918</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extLst>
                  <a:ext uri="{0D108BD9-81ED-4DB2-BD59-A6C34878D82A}">
                    <a16:rowId xmlns:a16="http://schemas.microsoft.com/office/drawing/2014/main" val="10003"/>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Test mistakes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86 of 10,500</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extLst>
                  <a:ext uri="{0D108BD9-81ED-4DB2-BD59-A6C34878D82A}">
                    <a16:rowId xmlns:a16="http://schemas.microsoft.com/office/drawing/2014/main" val="10004"/>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Validation mistakes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92 of 10,500</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extLst>
                  <a:ext uri="{0D108BD9-81ED-4DB2-BD59-A6C34878D82A}">
                    <a16:rowId xmlns:a16="http://schemas.microsoft.com/office/drawing/2014/main" val="10005"/>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Training mistakes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29 of 49,000</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extLst>
                  <a:ext uri="{0D108BD9-81ED-4DB2-BD59-A6C34878D82A}">
                    <a16:rowId xmlns:a16="http://schemas.microsoft.com/office/drawing/2014/main" val="10006"/>
                  </a:ext>
                </a:extLst>
              </a:tr>
            </a:tbl>
          </a:graphicData>
        </a:graphic>
      </p:graphicFrame>
      <p:sp>
        <p:nvSpPr>
          <p:cNvPr id="5" name="Text 2"/>
          <p:cNvSpPr/>
          <p:nvPr/>
        </p:nvSpPr>
        <p:spPr>
          <a:xfrm>
            <a:off x="812780" y="4919129"/>
            <a:ext cx="4970739" cy="948313"/>
          </a:xfrm>
          <a:prstGeom prst="rect">
            <a:avLst/>
          </a:prstGeom>
          <a:noFill/>
          <a:ln/>
        </p:spPr>
        <p:txBody>
          <a:bodyPr wrap="square" lIns="0" tIns="0" rIns="0" bIns="0" rtlCol="0" anchor="t">
            <a:normAutofit/>
          </a:bodyPr>
          <a:lstStyle/>
          <a:p>
            <a:pPr marL="0" indent="0" algn="l">
              <a:lnSpc>
                <a:spcPts val="1814"/>
              </a:lnSpc>
              <a:buNone/>
            </a:pPr>
            <a:r>
              <a:rPr lang="en-US" sz="1296" dirty="0">
                <a:solidFill>
                  <a:srgbClr val="4A5568"/>
                </a:solidFill>
                <a:latin typeface="IBM Plex Sans" pitchFamily="34" charset="0"/>
                <a:ea typeface="IBM Plex Sans" pitchFamily="34" charset="-122"/>
                <a:cs typeface="IBM Plex Sans" pitchFamily="34" charset="-120"/>
              </a:rPr>
              <a:t>MNIST split once, stratified: 49,000 train, 10,500 validation, 10,500 test. LeNet-5 trained for 20 epochs with Adam; the best validation checkpoint is kept, and its 84-number fc2 layer gives the embeddings.</a:t>
            </a:r>
            <a:endParaRPr lang="en-US" sz="1296" dirty="0"/>
          </a:p>
        </p:txBody>
      </p:sp>
      <p:sp>
        <p:nvSpPr>
          <p:cNvPr id="6" name="Shape 3"/>
          <p:cNvSpPr/>
          <p:nvPr/>
        </p:nvSpPr>
        <p:spPr>
          <a:xfrm>
            <a:off x="5949891" y="1885872"/>
            <a:ext cx="5422979" cy="3949819"/>
          </a:xfrm>
          <a:prstGeom prst="roundRect">
            <a:avLst>
              <a:gd name="adj" fmla="val 2412"/>
            </a:avLst>
          </a:prstGeom>
          <a:solidFill>
            <a:srgbClr val="FFFEFA"/>
          </a:solidFill>
          <a:ln w="12700">
            <a:solidFill>
              <a:srgbClr val="D9D4C7"/>
            </a:solidFill>
            <a:prstDash val="solid"/>
          </a:ln>
        </p:spPr>
        <p:txBody>
          <a:bodyPr/>
          <a:lstStyle/>
          <a:p>
            <a:endParaRPr lang="en-US"/>
          </a:p>
        </p:txBody>
      </p:sp>
      <p:pic>
        <p:nvPicPr>
          <p:cNvPr id="7" name="Image 0" descr="Confusion matrix of the baseline CNN on the test set"/>
          <p:cNvPicPr>
            <a:picLocks noChangeAspect="1"/>
          </p:cNvPicPr>
          <p:nvPr/>
        </p:nvPicPr>
        <p:blipFill>
          <a:blip r:embed="rId3"/>
          <a:srcRect l="-5504" r="-5504"/>
          <a:stretch/>
        </p:blipFill>
        <p:spPr>
          <a:xfrm>
            <a:off x="6121360" y="1987572"/>
            <a:ext cx="5079980" cy="3746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5605"/>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A84B0E"/>
                </a:solidFill>
                <a:latin typeface="IBM Plex Sans" pitchFamily="34" charset="0"/>
                <a:ea typeface="IBM Plex Sans" pitchFamily="34" charset="-122"/>
                <a:cs typeface="IBM Plex Sans" pitchFamily="34" charset="-120"/>
              </a:rPr>
              <a:t>PHASE 1 · TRAINING</a:t>
            </a:r>
            <a:endParaRPr lang="en-US" sz="1196" dirty="0"/>
          </a:p>
        </p:txBody>
      </p:sp>
      <p:sp>
        <p:nvSpPr>
          <p:cNvPr id="3" name="Text 1"/>
          <p:cNvSpPr>
            <a:spLocks noGrp="1"/>
          </p:cNvSpPr>
          <p:nvPr>
            <p:ph type="title"/>
          </p:nvPr>
        </p:nvSpPr>
        <p:spPr>
          <a:xfrm>
            <a:off x="812780" y="1226167"/>
            <a:ext cx="10883434" cy="465753"/>
          </a:xfrm>
          <a:prstGeom prst="rect">
            <a:avLst/>
          </a:prstGeom>
          <a:noFill/>
          <a:ln/>
        </p:spPr>
        <p:txBody>
          <a:bodyPr wrap="square" lIns="0" tIns="0" rIns="0" bIns="0" rtlCol="0" anchor="t">
            <a:normAutofit/>
          </a:bodyPr>
          <a:lstStyle/>
          <a:p>
            <a:pPr marL="0" indent="0" algn="l">
              <a:lnSpc>
                <a:spcPts val="3465"/>
              </a:lnSpc>
              <a:buNone/>
            </a:pPr>
            <a:r>
              <a:rPr lang="en-US" sz="3150" b="0" i="0" dirty="0">
                <a:solidFill>
                  <a:srgbClr val="14213D"/>
                </a:solidFill>
                <a:latin typeface="EB Garamond" pitchFamily="18" charset="0"/>
                <a:ea typeface="EB Garamond" pitchFamily="18" charset="-122"/>
                <a:cs typeface="EB Garamond" pitchFamily="18" charset="-120"/>
              </a:rPr>
              <a:t>Training converges and validation accuracy levels off</a:t>
            </a:r>
            <a:endParaRPr lang="en-US" sz="3150" dirty="0"/>
          </a:p>
        </p:txBody>
      </p:sp>
      <p:sp>
        <p:nvSpPr>
          <p:cNvPr id="4" name="Shape 2"/>
          <p:cNvSpPr/>
          <p:nvPr/>
        </p:nvSpPr>
        <p:spPr>
          <a:xfrm>
            <a:off x="1226860" y="1876050"/>
            <a:ext cx="9738281" cy="3266043"/>
          </a:xfrm>
          <a:prstGeom prst="roundRect">
            <a:avLst>
              <a:gd name="adj" fmla="val 2916"/>
            </a:avLst>
          </a:prstGeom>
          <a:solidFill>
            <a:srgbClr val="FFFEFA"/>
          </a:solidFill>
          <a:ln w="12700">
            <a:solidFill>
              <a:srgbClr val="D9D4C7"/>
            </a:solidFill>
            <a:prstDash val="solid"/>
          </a:ln>
        </p:spPr>
        <p:txBody>
          <a:bodyPr/>
          <a:lstStyle/>
          <a:p>
            <a:endParaRPr lang="en-US"/>
          </a:p>
        </p:txBody>
      </p:sp>
      <p:pic>
        <p:nvPicPr>
          <p:cNvPr id="5" name="Image 0" descr="Training and validation loss and accuracy over 20 epochs"/>
          <p:cNvPicPr>
            <a:picLocks noChangeAspect="1"/>
          </p:cNvPicPr>
          <p:nvPr/>
        </p:nvPicPr>
        <p:blipFill>
          <a:blip r:embed="rId3"/>
          <a:srcRect l="-761" r="-761"/>
          <a:stretch/>
        </p:blipFill>
        <p:spPr>
          <a:xfrm>
            <a:off x="1333500" y="1982688"/>
            <a:ext cx="9525000" cy="3052763"/>
          </a:xfrm>
          <a:prstGeom prst="rect">
            <a:avLst/>
          </a:prstGeom>
        </p:spPr>
      </p:pic>
      <p:sp>
        <p:nvSpPr>
          <p:cNvPr id="6" name="Text 3"/>
          <p:cNvSpPr/>
          <p:nvPr/>
        </p:nvSpPr>
        <p:spPr>
          <a:xfrm>
            <a:off x="812780" y="5351624"/>
            <a:ext cx="10883434" cy="515818"/>
          </a:xfrm>
          <a:prstGeom prst="rect">
            <a:avLst/>
          </a:prstGeom>
          <a:noFill/>
          <a:ln/>
        </p:spPr>
        <p:txBody>
          <a:bodyPr wrap="square" lIns="0" tIns="0" rIns="0" bIns="0" rtlCol="0" anchor="t">
            <a:normAutofit/>
          </a:bodyPr>
          <a:lstStyle/>
          <a:p>
            <a:pPr marL="0" indent="0" algn="l">
              <a:lnSpc>
                <a:spcPts val="1936"/>
              </a:lnSpc>
              <a:buNone/>
            </a:pPr>
            <a:r>
              <a:rPr lang="en-US" sz="1383" dirty="0">
                <a:solidFill>
                  <a:srgbClr val="4A5568"/>
                </a:solidFill>
                <a:latin typeface="IBM Plex Sans" pitchFamily="34" charset="0"/>
                <a:ea typeface="IBM Plex Sans" pitchFamily="34" charset="-122"/>
                <a:cs typeface="IBM Plex Sans" pitchFamily="34" charset="-120"/>
              </a:rPr>
              <a:t>Loss and accuracy over 20 epochs. Training accuracy reaches 99.97%, while validation accuracy levels off near 99.1%. The best validation accuracy, 99.12% at epoch 15, gives the checkpoint used for everything after.</a:t>
            </a:r>
            <a:endParaRPr lang="en-US" sz="138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1 · MISTAKES</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What the baseline CNN gets wrong</a:t>
            </a:r>
            <a:endParaRPr lang="en-US" sz="3200" dirty="0"/>
          </a:p>
        </p:txBody>
      </p:sp>
      <p:sp>
        <p:nvSpPr>
          <p:cNvPr id="4" name="Shape 2"/>
          <p:cNvSpPr/>
          <p:nvPr/>
        </p:nvSpPr>
        <p:spPr>
          <a:xfrm>
            <a:off x="819130" y="1885869"/>
            <a:ext cx="6210280" cy="3949819"/>
          </a:xfrm>
          <a:prstGeom prst="roundRect">
            <a:avLst>
              <a:gd name="adj" fmla="val 2412"/>
            </a:avLst>
          </a:prstGeom>
          <a:solidFill>
            <a:srgbClr val="FFFEFA"/>
          </a:solidFill>
          <a:ln w="12700">
            <a:solidFill>
              <a:srgbClr val="D9D4C7"/>
            </a:solidFill>
            <a:prstDash val="solid"/>
          </a:ln>
        </p:spPr>
        <p:txBody>
          <a:bodyPr/>
          <a:lstStyle/>
          <a:p>
            <a:endParaRPr lang="en-US"/>
          </a:p>
        </p:txBody>
      </p:sp>
      <p:pic>
        <p:nvPicPr>
          <p:cNvPr id="5" name="Image 0" descr="Fifteen misclassified test digits with true label, prediction and confidence"/>
          <p:cNvPicPr>
            <a:picLocks noChangeAspect="1"/>
          </p:cNvPicPr>
          <p:nvPr/>
        </p:nvPicPr>
        <p:blipFill>
          <a:blip r:embed="rId3"/>
          <a:srcRect t="-8" b="-8"/>
          <a:stretch/>
        </p:blipFill>
        <p:spPr>
          <a:xfrm>
            <a:off x="908030" y="1936728"/>
            <a:ext cx="6032480" cy="3848100"/>
          </a:xfrm>
          <a:prstGeom prst="rect">
            <a:avLst/>
          </a:prstGeom>
        </p:spPr>
      </p:pic>
      <p:sp>
        <p:nvSpPr>
          <p:cNvPr id="6" name="Shape 3"/>
          <p:cNvSpPr/>
          <p:nvPr/>
        </p:nvSpPr>
        <p:spPr>
          <a:xfrm>
            <a:off x="7340560" y="1879519"/>
            <a:ext cx="4038660" cy="1219200"/>
          </a:xfrm>
          <a:prstGeom prst="roundRect">
            <a:avLst>
              <a:gd name="adj" fmla="val 4167"/>
            </a:avLst>
          </a:prstGeom>
          <a:solidFill>
            <a:srgbClr val="FFFEFA"/>
          </a:solidFill>
          <a:ln/>
        </p:spPr>
        <p:txBody>
          <a:bodyPr/>
          <a:lstStyle/>
          <a:p>
            <a:endParaRPr lang="en-US"/>
          </a:p>
        </p:txBody>
      </p:sp>
      <p:sp>
        <p:nvSpPr>
          <p:cNvPr id="7" name="Shape 4"/>
          <p:cNvSpPr/>
          <p:nvPr/>
        </p:nvSpPr>
        <p:spPr>
          <a:xfrm>
            <a:off x="7340560" y="1879519"/>
            <a:ext cx="4038660" cy="1219200"/>
          </a:xfrm>
          <a:custGeom>
            <a:avLst/>
            <a:gdLst/>
            <a:ahLst/>
            <a:cxnLst/>
            <a:rect l="l" t="t" r="r" b="b"/>
            <a:pathLst>
              <a:path w="4038660" h="1219200">
                <a:moveTo>
                  <a:pt x="50800" y="1219200"/>
                </a:moveTo>
                <a:lnTo>
                  <a:pt x="50800" y="1219200"/>
                </a:lnTo>
                <a:arcTo wR="50800" hR="50800" stAng="5400000" swAng="5400000"/>
                <a:lnTo>
                  <a:pt x="0" y="50800"/>
                </a:lnTo>
                <a:arcTo wR="50800" hR="50800" stAng="10800000" swAng="5400000"/>
                <a:lnTo>
                  <a:pt x="50800" y="0"/>
                </a:lnTo>
                <a:lnTo>
                  <a:pt x="50800" y="1219200"/>
                </a:lnTo>
                <a:close/>
              </a:path>
            </a:pathLst>
          </a:custGeom>
          <a:solidFill>
            <a:srgbClr val="E07A1F"/>
          </a:solidFill>
          <a:ln/>
        </p:spPr>
        <p:txBody>
          <a:bodyPr/>
          <a:lstStyle/>
          <a:p>
            <a:endParaRPr lang="en-US"/>
          </a:p>
        </p:txBody>
      </p:sp>
      <p:sp>
        <p:nvSpPr>
          <p:cNvPr id="8" name="Text 5"/>
          <p:cNvSpPr/>
          <p:nvPr/>
        </p:nvSpPr>
        <p:spPr>
          <a:xfrm>
            <a:off x="7593271" y="2057279"/>
            <a:ext cx="3690252" cy="230961"/>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14213D"/>
                </a:solidFill>
                <a:latin typeface="IBM Plex Sans" pitchFamily="34" charset="0"/>
                <a:ea typeface="IBM Plex Sans" pitchFamily="34" charset="-122"/>
                <a:cs typeface="IBM Plex Sans" pitchFamily="34" charset="-120"/>
              </a:rPr>
              <a:t>Most common confusions</a:t>
            </a:r>
            <a:endParaRPr lang="en-US" sz="1350" dirty="0"/>
          </a:p>
        </p:txBody>
      </p:sp>
      <p:sp>
        <p:nvSpPr>
          <p:cNvPr id="9" name="Text 6"/>
          <p:cNvSpPr/>
          <p:nvPr/>
        </p:nvSpPr>
        <p:spPr>
          <a:xfrm>
            <a:off x="7593271" y="2313620"/>
            <a:ext cx="3690252" cy="632738"/>
          </a:xfrm>
          <a:prstGeom prst="rect">
            <a:avLst/>
          </a:prstGeom>
          <a:noFill/>
          <a:ln/>
        </p:spPr>
        <p:txBody>
          <a:bodyPr wrap="square" lIns="0" tIns="0" rIns="0" bIns="0" rtlCol="0" anchor="t">
            <a:normAutofit/>
          </a:bodyPr>
          <a:lstStyle/>
          <a:p>
            <a:pPr marL="0" indent="0" algn="l">
              <a:lnSpc>
                <a:spcPts val="1607"/>
              </a:lnSpc>
              <a:buNone/>
            </a:pPr>
            <a:r>
              <a:rPr lang="en-US" sz="1190" dirty="0">
                <a:solidFill>
                  <a:srgbClr val="4A5568"/>
                </a:solidFill>
                <a:latin typeface="IBM Plex Sans" pitchFamily="34" charset="0"/>
                <a:ea typeface="IBM Plex Sans" pitchFamily="34" charset="-122"/>
                <a:cs typeface="IBM Plex Sans" pitchFamily="34" charset="-120"/>
              </a:rPr>
              <a:t>On validation: 5 → 0, 9 → 4 and 4 → 9 (six each), then 9 → 8 and 5 → 3 (five each). The figure shows 15 of the 86 test mistakes.</a:t>
            </a:r>
            <a:endParaRPr lang="en-US" sz="1190" dirty="0"/>
          </a:p>
        </p:txBody>
      </p:sp>
      <p:sp>
        <p:nvSpPr>
          <p:cNvPr id="10" name="Shape 7"/>
          <p:cNvSpPr/>
          <p:nvPr/>
        </p:nvSpPr>
        <p:spPr>
          <a:xfrm>
            <a:off x="7340560" y="3251119"/>
            <a:ext cx="4038660" cy="1219260"/>
          </a:xfrm>
          <a:prstGeom prst="roundRect">
            <a:avLst>
              <a:gd name="adj" fmla="val 4166"/>
            </a:avLst>
          </a:prstGeom>
          <a:solidFill>
            <a:srgbClr val="FFFEFA"/>
          </a:solidFill>
          <a:ln/>
        </p:spPr>
        <p:txBody>
          <a:bodyPr/>
          <a:lstStyle/>
          <a:p>
            <a:endParaRPr lang="en-US"/>
          </a:p>
        </p:txBody>
      </p:sp>
      <p:sp>
        <p:nvSpPr>
          <p:cNvPr id="11" name="Shape 8"/>
          <p:cNvSpPr/>
          <p:nvPr/>
        </p:nvSpPr>
        <p:spPr>
          <a:xfrm>
            <a:off x="7340560" y="3251119"/>
            <a:ext cx="4038660" cy="1219260"/>
          </a:xfrm>
          <a:custGeom>
            <a:avLst/>
            <a:gdLst/>
            <a:ahLst/>
            <a:cxnLst/>
            <a:rect l="l" t="t" r="r" b="b"/>
            <a:pathLst>
              <a:path w="4038660" h="1219260">
                <a:moveTo>
                  <a:pt x="50800" y="1219260"/>
                </a:moveTo>
                <a:lnTo>
                  <a:pt x="50800" y="1219260"/>
                </a:lnTo>
                <a:arcTo wR="50800" hR="50800" stAng="5400000" swAng="5400000"/>
                <a:lnTo>
                  <a:pt x="0" y="50800"/>
                </a:lnTo>
                <a:arcTo wR="50800" hR="50800" stAng="10800000" swAng="5400000"/>
                <a:lnTo>
                  <a:pt x="50800" y="0"/>
                </a:lnTo>
                <a:lnTo>
                  <a:pt x="50800" y="1219260"/>
                </a:lnTo>
                <a:close/>
              </a:path>
            </a:pathLst>
          </a:custGeom>
          <a:solidFill>
            <a:srgbClr val="2F6FB0"/>
          </a:solidFill>
          <a:ln/>
        </p:spPr>
        <p:txBody>
          <a:bodyPr/>
          <a:lstStyle/>
          <a:p>
            <a:endParaRPr lang="en-US"/>
          </a:p>
        </p:txBody>
      </p:sp>
      <p:sp>
        <p:nvSpPr>
          <p:cNvPr id="12" name="Text 9"/>
          <p:cNvSpPr/>
          <p:nvPr/>
        </p:nvSpPr>
        <p:spPr>
          <a:xfrm>
            <a:off x="7593271" y="3428879"/>
            <a:ext cx="369025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Confidence</a:t>
            </a:r>
            <a:endParaRPr lang="en-US" sz="1600" dirty="0"/>
          </a:p>
        </p:txBody>
      </p:sp>
      <p:sp>
        <p:nvSpPr>
          <p:cNvPr id="13" name="Text 10"/>
          <p:cNvSpPr/>
          <p:nvPr/>
        </p:nvSpPr>
        <p:spPr>
          <a:xfrm>
            <a:off x="7593271" y="3723441"/>
            <a:ext cx="369025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Average 0.997 when right and 0.833 when wrong (validation).</a:t>
            </a:r>
            <a:endParaRPr lang="en-US" sz="1400" dirty="0"/>
          </a:p>
        </p:txBody>
      </p:sp>
      <p:sp>
        <p:nvSpPr>
          <p:cNvPr id="14" name="Shape 11"/>
          <p:cNvSpPr/>
          <p:nvPr/>
        </p:nvSpPr>
        <p:spPr>
          <a:xfrm>
            <a:off x="7340560" y="4622778"/>
            <a:ext cx="4038660" cy="1219260"/>
          </a:xfrm>
          <a:prstGeom prst="roundRect">
            <a:avLst>
              <a:gd name="adj" fmla="val 4166"/>
            </a:avLst>
          </a:prstGeom>
          <a:solidFill>
            <a:srgbClr val="FFFEFA"/>
          </a:solidFill>
          <a:ln/>
        </p:spPr>
        <p:txBody>
          <a:bodyPr/>
          <a:lstStyle/>
          <a:p>
            <a:endParaRPr lang="en-US"/>
          </a:p>
        </p:txBody>
      </p:sp>
      <p:sp>
        <p:nvSpPr>
          <p:cNvPr id="15" name="Shape 12"/>
          <p:cNvSpPr/>
          <p:nvPr/>
        </p:nvSpPr>
        <p:spPr>
          <a:xfrm>
            <a:off x="7340560" y="4622778"/>
            <a:ext cx="4038660" cy="1219260"/>
          </a:xfrm>
          <a:custGeom>
            <a:avLst/>
            <a:gdLst/>
            <a:ahLst/>
            <a:cxnLst/>
            <a:rect l="l" t="t" r="r" b="b"/>
            <a:pathLst>
              <a:path w="4038660" h="1219260">
                <a:moveTo>
                  <a:pt x="50800" y="1219260"/>
                </a:moveTo>
                <a:lnTo>
                  <a:pt x="50800" y="1219260"/>
                </a:lnTo>
                <a:arcTo wR="50800" hR="50800" stAng="5400000" swAng="5400000"/>
                <a:lnTo>
                  <a:pt x="0" y="50800"/>
                </a:lnTo>
                <a:arcTo wR="50800" hR="50800" stAng="10800000" swAng="5400000"/>
                <a:lnTo>
                  <a:pt x="50800" y="0"/>
                </a:lnTo>
                <a:lnTo>
                  <a:pt x="50800" y="1219260"/>
                </a:lnTo>
                <a:close/>
              </a:path>
            </a:pathLst>
          </a:custGeom>
          <a:solidFill>
            <a:srgbClr val="14213D"/>
          </a:solidFill>
          <a:ln/>
        </p:spPr>
        <p:txBody>
          <a:bodyPr/>
          <a:lstStyle/>
          <a:p>
            <a:endParaRPr lang="en-US"/>
          </a:p>
        </p:txBody>
      </p:sp>
      <p:sp>
        <p:nvSpPr>
          <p:cNvPr id="16" name="Text 13"/>
          <p:cNvSpPr/>
          <p:nvPr/>
        </p:nvSpPr>
        <p:spPr>
          <a:xfrm>
            <a:off x="7593271" y="4800538"/>
            <a:ext cx="369025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Some are confident</a:t>
            </a:r>
            <a:endParaRPr lang="en-US" sz="1600" dirty="0"/>
          </a:p>
        </p:txBody>
      </p:sp>
      <p:sp>
        <p:nvSpPr>
          <p:cNvPr id="17" name="Text 14"/>
          <p:cNvSpPr/>
          <p:nvPr/>
        </p:nvSpPr>
        <p:spPr>
          <a:xfrm>
            <a:off x="7593271" y="5095100"/>
            <a:ext cx="3690252"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568"/>
                </a:solidFill>
                <a:latin typeface="IBM Plex Sans" pitchFamily="34" charset="0"/>
                <a:ea typeface="IBM Plex Sans" pitchFamily="34" charset="-122"/>
                <a:cs typeface="IBM Plex Sans" pitchFamily="34" charset="-120"/>
              </a:rPr>
              <a:t>Several wrong answers come with confidence above 97%.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2 · SOM TRAINING</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Three grid sizes, one chosen for the main analysis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890949"/>
          <a:ext cx="10555010" cy="1752124"/>
        </p:xfrm>
        <a:graphic>
          <a:graphicData uri="http://schemas.openxmlformats.org/drawingml/2006/table">
            <a:tbl>
              <a:tblPr/>
              <a:tblGrid>
                <a:gridCol w="4222004">
                  <a:extLst>
                    <a:ext uri="{9D8B030D-6E8A-4147-A177-3AD203B41FA5}">
                      <a16:colId xmlns:a16="http://schemas.microsoft.com/office/drawing/2014/main" val="20000"/>
                    </a:ext>
                  </a:extLst>
                </a:gridCol>
                <a:gridCol w="2111002">
                  <a:extLst>
                    <a:ext uri="{9D8B030D-6E8A-4147-A177-3AD203B41FA5}">
                      <a16:colId xmlns:a16="http://schemas.microsoft.com/office/drawing/2014/main" val="20001"/>
                    </a:ext>
                  </a:extLst>
                </a:gridCol>
                <a:gridCol w="2111002">
                  <a:extLst>
                    <a:ext uri="{9D8B030D-6E8A-4147-A177-3AD203B41FA5}">
                      <a16:colId xmlns:a16="http://schemas.microsoft.com/office/drawing/2014/main" val="20002"/>
                    </a:ext>
                  </a:extLst>
                </a:gridCol>
                <a:gridCol w="2111002">
                  <a:extLst>
                    <a:ext uri="{9D8B030D-6E8A-4147-A177-3AD203B41FA5}">
                      <a16:colId xmlns:a16="http://schemas.microsoft.com/office/drawing/2014/main" val="20003"/>
                    </a:ext>
                  </a:extLst>
                </a:gridCol>
              </a:tblGrid>
              <a:tr h="438031">
                <a:tc>
                  <a:txBody>
                    <a:bodyPr/>
                    <a:lstStyle/>
                    <a:p>
                      <a:pPr marL="0" indent="0">
                        <a:lnSpc>
                          <a:spcPts val="2240"/>
                        </a:lnSpc>
                        <a:buNone/>
                      </a:pPr>
                      <a:r>
                        <a:rPr lang="en-US" sz="1600" b="1" dirty="0">
                          <a:solidFill>
                            <a:srgbClr val="F7F5F0"/>
                          </a:solidFill>
                          <a:latin typeface="IBM Plex Sans" pitchFamily="34" charset="0"/>
                          <a:ea typeface="IBM Plex Sans" pitchFamily="34" charset="-122"/>
                          <a:cs typeface="IBM Plex Sans" pitchFamily="34" charset="-120"/>
                        </a:rPr>
                        <a:t>Measure</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240"/>
                        </a:lnSpc>
                        <a:buNone/>
                      </a:pPr>
                      <a:r>
                        <a:rPr lang="en-US" sz="1600" b="1" dirty="0">
                          <a:solidFill>
                            <a:srgbClr val="F7F5F0"/>
                          </a:solidFill>
                          <a:latin typeface="IBM Plex Sans" pitchFamily="34" charset="0"/>
                          <a:ea typeface="IBM Plex Sans" pitchFamily="34" charset="-122"/>
                          <a:cs typeface="IBM Plex Sans" pitchFamily="34" charset="-120"/>
                        </a:rPr>
                        <a:t>10×10</a:t>
                      </a:r>
                      <a:endParaRPr lang="en-US" sz="1600" dirty="0">
                        <a:latin typeface="IBM Plex Sans" charset="0"/>
                        <a:ea typeface="IBM Plex Sans" charset="0"/>
                        <a:cs typeface="IBM Plex Sans" charset="0"/>
                      </a:endParaRPr>
                    </a:p>
                  </a:txBody>
                  <a:tcPr marL="71120" marR="71120" marT="71120" marB="7112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240"/>
                        </a:lnSpc>
                        <a:buNone/>
                      </a:pPr>
                      <a:r>
                        <a:rPr lang="en-US" sz="1600" b="1" dirty="0">
                          <a:solidFill>
                            <a:srgbClr val="F7F5F0"/>
                          </a:solidFill>
                          <a:latin typeface="IBM Plex Sans" pitchFamily="34" charset="0"/>
                          <a:ea typeface="IBM Plex Sans" pitchFamily="34" charset="-122"/>
                          <a:cs typeface="IBM Plex Sans" pitchFamily="34" charset="-120"/>
                        </a:rPr>
                        <a:t>15×15 (chosen)</a:t>
                      </a:r>
                      <a:endParaRPr lang="en-US" sz="1600" dirty="0">
                        <a:latin typeface="IBM Plex Sans" charset="0"/>
                        <a:ea typeface="IBM Plex Sans" charset="0"/>
                        <a:cs typeface="IBM Plex Sans" charset="0"/>
                      </a:endParaRPr>
                    </a:p>
                  </a:txBody>
                  <a:tcPr marL="71120" marR="71120" marT="71120" marB="7112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240"/>
                        </a:lnSpc>
                        <a:buNone/>
                      </a:pPr>
                      <a:r>
                        <a:rPr lang="en-US" sz="1600" b="1" dirty="0">
                          <a:solidFill>
                            <a:srgbClr val="F7F5F0"/>
                          </a:solidFill>
                          <a:latin typeface="IBM Plex Sans" pitchFamily="34" charset="0"/>
                          <a:ea typeface="IBM Plex Sans" pitchFamily="34" charset="-122"/>
                          <a:cs typeface="IBM Plex Sans" pitchFamily="34" charset="-120"/>
                        </a:rPr>
                        <a:t>20×20</a:t>
                      </a:r>
                      <a:endParaRPr lang="en-US" sz="1600" dirty="0">
                        <a:latin typeface="IBM Plex Sans" charset="0"/>
                        <a:ea typeface="IBM Plex Sans" charset="0"/>
                        <a:cs typeface="IBM Plex Sans" charset="0"/>
                      </a:endParaRPr>
                    </a:p>
                  </a:txBody>
                  <a:tcPr marL="71120" marR="71120" marT="71120" marB="7112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3803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Quantization error (QE)</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1.21</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240"/>
                        </a:lnSpc>
                        <a:buNone/>
                      </a:pPr>
                      <a:r>
                        <a:rPr lang="en-US" sz="1600" dirty="0">
                          <a:solidFill>
                            <a:srgbClr val="A84B0E"/>
                          </a:solidFill>
                          <a:latin typeface="IBM Plex Sans" pitchFamily="34" charset="0"/>
                          <a:ea typeface="IBM Plex Sans" pitchFamily="34" charset="-122"/>
                          <a:cs typeface="IBM Plex Sans" pitchFamily="34" charset="-120"/>
                        </a:rPr>
                        <a:t>1.06</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0.98</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extLst>
                  <a:ext uri="{0D108BD9-81ED-4DB2-BD59-A6C34878D82A}">
                    <a16:rowId xmlns:a16="http://schemas.microsoft.com/office/drawing/2014/main" val="10001"/>
                  </a:ext>
                </a:extLst>
              </a:tr>
              <a:tr h="43803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Cell purity</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97.6%</a:t>
                      </a:r>
                      <a:endParaRPr lang="en-US" sz="1600" dirty="0">
                        <a:latin typeface="IBM Plex Sans" charset="0"/>
                        <a:ea typeface="IBM Plex Sans" charset="0"/>
                        <a:cs typeface="IBM Plex Sans" charset="0"/>
                      </a:endParaRPr>
                    </a:p>
                  </a:txBody>
                  <a:tcPr marL="71120" marR="71120" marT="71120" marB="71120">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240"/>
                        </a:lnSpc>
                        <a:buNone/>
                      </a:pPr>
                      <a:r>
                        <a:rPr lang="en-US" sz="1600" dirty="0">
                          <a:solidFill>
                            <a:srgbClr val="A84B0E"/>
                          </a:solidFill>
                          <a:latin typeface="IBM Plex Sans" pitchFamily="34" charset="0"/>
                          <a:ea typeface="IBM Plex Sans" pitchFamily="34" charset="-122"/>
                          <a:cs typeface="IBM Plex Sans" pitchFamily="34" charset="-120"/>
                        </a:rPr>
                        <a:t>98.2%</a:t>
                      </a:r>
                      <a:endParaRPr lang="en-US" sz="1600" dirty="0">
                        <a:latin typeface="IBM Plex Sans" charset="0"/>
                        <a:ea typeface="IBM Plex Sans" charset="0"/>
                        <a:cs typeface="IBM Plex Sans" charset="0"/>
                      </a:endParaRPr>
                    </a:p>
                  </a:txBody>
                  <a:tcPr marL="71120" marR="71120" marT="71120" marB="71120">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98.4%</a:t>
                      </a:r>
                      <a:endParaRPr lang="en-US" sz="1600" dirty="0">
                        <a:latin typeface="IBM Plex Sans" charset="0"/>
                        <a:ea typeface="IBM Plex Sans" charset="0"/>
                        <a:cs typeface="IBM Plex Sans" charset="0"/>
                      </a:endParaRPr>
                    </a:p>
                  </a:txBody>
                  <a:tcPr marL="71120" marR="71120" marT="71120" marB="71120">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extLst>
                  <a:ext uri="{0D108BD9-81ED-4DB2-BD59-A6C34878D82A}">
                    <a16:rowId xmlns:a16="http://schemas.microsoft.com/office/drawing/2014/main" val="10002"/>
                  </a:ext>
                </a:extLst>
              </a:tr>
              <a:tr h="438031">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Topological error (TE1)</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BF"/>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4.8%</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240"/>
                        </a:lnSpc>
                        <a:buNone/>
                      </a:pPr>
                      <a:r>
                        <a:rPr lang="en-US" sz="1600" dirty="0">
                          <a:solidFill>
                            <a:srgbClr val="A84B0E"/>
                          </a:solidFill>
                          <a:latin typeface="IBM Plex Sans" pitchFamily="34" charset="0"/>
                          <a:ea typeface="IBM Plex Sans" pitchFamily="34" charset="-122"/>
                          <a:cs typeface="IBM Plex Sans" pitchFamily="34" charset="-120"/>
                        </a:rPr>
                        <a:t>6.6%</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7.7%</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extLst>
                  <a:ext uri="{0D108BD9-81ED-4DB2-BD59-A6C34878D82A}">
                    <a16:rowId xmlns:a16="http://schemas.microsoft.com/office/drawing/2014/main" val="10003"/>
                  </a:ext>
                </a:extLst>
              </a:tr>
            </a:tbl>
          </a:graphicData>
        </a:graphic>
      </p:graphicFrame>
      <p:sp>
        <p:nvSpPr>
          <p:cNvPr id="5" name="Shape 2"/>
          <p:cNvSpPr/>
          <p:nvPr/>
        </p:nvSpPr>
        <p:spPr>
          <a:xfrm>
            <a:off x="812780" y="3846252"/>
            <a:ext cx="5181600" cy="1645682"/>
          </a:xfrm>
          <a:prstGeom prst="roundRect">
            <a:avLst>
              <a:gd name="adj" fmla="val 3087"/>
            </a:avLst>
          </a:prstGeom>
          <a:solidFill>
            <a:srgbClr val="FFFEFA"/>
          </a:solidFill>
          <a:ln/>
        </p:spPr>
        <p:txBody>
          <a:bodyPr/>
          <a:lstStyle/>
          <a:p>
            <a:endParaRPr lang="en-US"/>
          </a:p>
        </p:txBody>
      </p:sp>
      <p:sp>
        <p:nvSpPr>
          <p:cNvPr id="6" name="Shape 3"/>
          <p:cNvSpPr/>
          <p:nvPr/>
        </p:nvSpPr>
        <p:spPr>
          <a:xfrm>
            <a:off x="812780" y="3846252"/>
            <a:ext cx="5181600" cy="1645682"/>
          </a:xfrm>
          <a:custGeom>
            <a:avLst/>
            <a:gdLst/>
            <a:ahLst/>
            <a:cxnLst/>
            <a:rect l="l" t="t" r="r" b="b"/>
            <a:pathLst>
              <a:path w="5181600" h="1645682">
                <a:moveTo>
                  <a:pt x="50800" y="1645682"/>
                </a:moveTo>
                <a:lnTo>
                  <a:pt x="50800" y="1645682"/>
                </a:lnTo>
                <a:arcTo wR="50800" hR="50800" stAng="5400000" swAng="5400000"/>
                <a:lnTo>
                  <a:pt x="0" y="50800"/>
                </a:lnTo>
                <a:arcTo wR="50800" hR="50800" stAng="10800000" swAng="5400000"/>
                <a:lnTo>
                  <a:pt x="50800" y="0"/>
                </a:lnTo>
                <a:lnTo>
                  <a:pt x="50800" y="1645682"/>
                </a:lnTo>
                <a:close/>
              </a:path>
            </a:pathLst>
          </a:custGeom>
          <a:solidFill>
            <a:srgbClr val="E07A1F"/>
          </a:solidFill>
          <a:ln/>
        </p:spPr>
        <p:txBody>
          <a:bodyPr/>
          <a:lstStyle/>
          <a:p>
            <a:endParaRPr lang="en-US"/>
          </a:p>
        </p:txBody>
      </p:sp>
      <p:sp>
        <p:nvSpPr>
          <p:cNvPr id="7" name="Text 4"/>
          <p:cNvSpPr/>
          <p:nvPr/>
        </p:nvSpPr>
        <p:spPr>
          <a:xfrm>
            <a:off x="1090910" y="4024012"/>
            <a:ext cx="481511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Why 15×15</a:t>
            </a:r>
            <a:endParaRPr lang="en-US" sz="1600" dirty="0"/>
          </a:p>
        </p:txBody>
      </p:sp>
      <p:sp>
        <p:nvSpPr>
          <p:cNvPr id="8" name="Text 5"/>
          <p:cNvSpPr/>
          <p:nvPr/>
        </p:nvSpPr>
        <p:spPr>
          <a:xfrm>
            <a:off x="1090910" y="4318574"/>
            <a:ext cx="4815116"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No grid was clearly better at predicting mistakes. 15×15 has high purity and a lower topological error than 20×20.</a:t>
            </a:r>
            <a:endParaRPr lang="en-US" sz="1400" dirty="0"/>
          </a:p>
        </p:txBody>
      </p:sp>
      <p:sp>
        <p:nvSpPr>
          <p:cNvPr id="9" name="Shape 6"/>
          <p:cNvSpPr/>
          <p:nvPr/>
        </p:nvSpPr>
        <p:spPr>
          <a:xfrm>
            <a:off x="6197560" y="3846252"/>
            <a:ext cx="5181660" cy="1645682"/>
          </a:xfrm>
          <a:prstGeom prst="roundRect">
            <a:avLst>
              <a:gd name="adj" fmla="val 3087"/>
            </a:avLst>
          </a:prstGeom>
          <a:solidFill>
            <a:srgbClr val="FFFEFA"/>
          </a:solidFill>
          <a:ln/>
        </p:spPr>
        <p:txBody>
          <a:bodyPr/>
          <a:lstStyle/>
          <a:p>
            <a:endParaRPr lang="en-US"/>
          </a:p>
        </p:txBody>
      </p:sp>
      <p:sp>
        <p:nvSpPr>
          <p:cNvPr id="10" name="Shape 7"/>
          <p:cNvSpPr/>
          <p:nvPr/>
        </p:nvSpPr>
        <p:spPr>
          <a:xfrm>
            <a:off x="6197560" y="3846252"/>
            <a:ext cx="5181660" cy="1645682"/>
          </a:xfrm>
          <a:custGeom>
            <a:avLst/>
            <a:gdLst/>
            <a:ahLst/>
            <a:cxnLst/>
            <a:rect l="l" t="t" r="r" b="b"/>
            <a:pathLst>
              <a:path w="5181660" h="1645682">
                <a:moveTo>
                  <a:pt x="50800" y="1645682"/>
                </a:moveTo>
                <a:lnTo>
                  <a:pt x="50800" y="1645682"/>
                </a:lnTo>
                <a:arcTo wR="50800" hR="50800" stAng="5400000" swAng="5400000"/>
                <a:lnTo>
                  <a:pt x="0" y="50800"/>
                </a:lnTo>
                <a:arcTo wR="50800" hR="50800" stAng="10800000" swAng="5400000"/>
                <a:lnTo>
                  <a:pt x="50800" y="0"/>
                </a:lnTo>
                <a:lnTo>
                  <a:pt x="50800" y="1645682"/>
                </a:lnTo>
                <a:close/>
              </a:path>
            </a:pathLst>
          </a:custGeom>
          <a:solidFill>
            <a:srgbClr val="2F6FB0"/>
          </a:solidFill>
          <a:ln/>
        </p:spPr>
        <p:txBody>
          <a:bodyPr/>
          <a:lstStyle/>
          <a:p>
            <a:endParaRPr lang="en-US"/>
          </a:p>
        </p:txBody>
      </p:sp>
      <p:sp>
        <p:nvSpPr>
          <p:cNvPr id="11" name="Text 8"/>
          <p:cNvSpPr/>
          <p:nvPr/>
        </p:nvSpPr>
        <p:spPr>
          <a:xfrm>
            <a:off x="6475690" y="4024012"/>
            <a:ext cx="48151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Fair comparison</a:t>
            </a:r>
            <a:endParaRPr lang="en-US" sz="1600" dirty="0"/>
          </a:p>
        </p:txBody>
      </p:sp>
      <p:sp>
        <p:nvSpPr>
          <p:cNvPr id="12" name="Text 9"/>
          <p:cNvSpPr/>
          <p:nvPr/>
        </p:nvSpPr>
        <p:spPr>
          <a:xfrm>
            <a:off x="6475690" y="4318574"/>
            <a:ext cx="4815178" cy="102100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Same data, same three starting neighborhood sizes, ten maps per grid, validation data only. Main run: 15×15, initial neighborhood 11, 250 epochs, seed 42, trained on the 49,000 × 84 training embeddings.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2 · GRID COMPARISON</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A finer grid does not clearly predict mistakes better</a:t>
            </a:r>
            <a:endParaRPr lang="en-US" sz="3200" dirty="0"/>
          </a:p>
        </p:txBody>
      </p:sp>
      <p:sp>
        <p:nvSpPr>
          <p:cNvPr id="4" name="Shape 2"/>
          <p:cNvSpPr/>
          <p:nvPr/>
        </p:nvSpPr>
        <p:spPr>
          <a:xfrm>
            <a:off x="1226860" y="1885876"/>
            <a:ext cx="9738281" cy="3248541"/>
          </a:xfrm>
          <a:prstGeom prst="roundRect">
            <a:avLst>
              <a:gd name="adj" fmla="val 2932"/>
            </a:avLst>
          </a:prstGeom>
          <a:solidFill>
            <a:srgbClr val="FFFEFA"/>
          </a:solidFill>
          <a:ln w="12700">
            <a:solidFill>
              <a:srgbClr val="D9D4C7"/>
            </a:solidFill>
            <a:prstDash val="solid"/>
          </a:ln>
        </p:spPr>
        <p:txBody>
          <a:bodyPr/>
          <a:lstStyle/>
          <a:p>
            <a:endParaRPr lang="en-US"/>
          </a:p>
        </p:txBody>
      </p:sp>
      <p:pic>
        <p:nvPicPr>
          <p:cNvPr id="5" name="Image 0" descr="AUROC for predicting CNN mistakes on 10x10, 15x15 and 20x20 grids, and the difference between 20x20 and 15x15"/>
          <p:cNvPicPr>
            <a:picLocks noChangeAspect="1"/>
          </p:cNvPicPr>
          <p:nvPr/>
        </p:nvPicPr>
        <p:blipFill>
          <a:blip r:embed="rId3"/>
          <a:srcRect t="-46" b="-46"/>
          <a:stretch/>
        </p:blipFill>
        <p:spPr>
          <a:xfrm>
            <a:off x="1333500" y="1992511"/>
            <a:ext cx="9525000" cy="3035260"/>
          </a:xfrm>
          <a:prstGeom prst="rect">
            <a:avLst/>
          </a:prstGeom>
        </p:spPr>
      </p:pic>
      <p:sp>
        <p:nvSpPr>
          <p:cNvPr id="6" name="Text 3"/>
          <p:cNvSpPr/>
          <p:nvPr/>
        </p:nvSpPr>
        <p:spPr>
          <a:xfrm>
            <a:off x="812780" y="5343947"/>
            <a:ext cx="10883434"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AUROC difference between 20×20 and 15×15 is +0.001 (95% interval −0.100 to +0.089), so the comparison is inconclusive. With only 92 mistakes, differences below about 0.1 cannot be seen.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2 · CLUSTER ANALYSIS</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The map’s cells follow the digit classes</a:t>
            </a:r>
            <a:endParaRPr lang="en-US" sz="3200" dirty="0"/>
          </a:p>
        </p:txBody>
      </p:sp>
      <p:sp>
        <p:nvSpPr>
          <p:cNvPr id="4" name="Shape 2"/>
          <p:cNvSpPr/>
          <p:nvPr/>
        </p:nvSpPr>
        <p:spPr>
          <a:xfrm>
            <a:off x="819130" y="1885876"/>
            <a:ext cx="4813260" cy="3949819"/>
          </a:xfrm>
          <a:prstGeom prst="roundRect">
            <a:avLst>
              <a:gd name="adj" fmla="val 2412"/>
            </a:avLst>
          </a:prstGeom>
          <a:solidFill>
            <a:srgbClr val="FFFEFA"/>
          </a:solidFill>
          <a:ln w="12700">
            <a:solidFill>
              <a:srgbClr val="D9D4C7"/>
            </a:solidFill>
            <a:prstDash val="solid"/>
          </a:ln>
        </p:spPr>
        <p:txBody>
          <a:bodyPr/>
          <a:lstStyle/>
          <a:p>
            <a:endParaRPr lang="en-US"/>
          </a:p>
        </p:txBody>
      </p:sp>
      <p:pic>
        <p:nvPicPr>
          <p:cNvPr id="5" name="Image 0" descr="15 by 15 SOM validation map colored by class purity, sized by number of images"/>
          <p:cNvPicPr>
            <a:picLocks noChangeAspect="1"/>
          </p:cNvPicPr>
          <p:nvPr/>
        </p:nvPicPr>
        <p:blipFill>
          <a:blip r:embed="rId3"/>
          <a:srcRect l="-14591" r="-14591"/>
          <a:stretch/>
        </p:blipFill>
        <p:spPr>
          <a:xfrm>
            <a:off x="939760" y="2021805"/>
            <a:ext cx="4572000" cy="3429000"/>
          </a:xfrm>
          <a:prstGeom prst="rect">
            <a:avLst/>
          </a:prstGeom>
        </p:spPr>
      </p:pic>
      <p:sp>
        <p:nvSpPr>
          <p:cNvPr id="6" name="Text 3"/>
          <p:cNvSpPr/>
          <p:nvPr/>
        </p:nvSpPr>
        <p:spPr>
          <a:xfrm>
            <a:off x="1495044" y="5501580"/>
            <a:ext cx="3461433" cy="223520"/>
          </a:xfrm>
          <a:prstGeom prst="rect">
            <a:avLst/>
          </a:prstGeom>
          <a:noFill/>
          <a:ln/>
        </p:spPr>
        <p:txBody>
          <a:bodyPr wrap="square" lIns="0" tIns="0" rIns="0" bIns="0" rtlCol="0" anchor="t">
            <a:normAutofit/>
          </a:bodyPr>
          <a:lstStyle/>
          <a:p>
            <a:pPr marL="0" indent="0" algn="ctr">
              <a:lnSpc>
                <a:spcPts val="1560"/>
              </a:lnSpc>
              <a:buNone/>
            </a:pPr>
            <a:r>
              <a:rPr lang="en-US" sz="1200" dirty="0">
                <a:solidFill>
                  <a:srgbClr val="4A5568"/>
                </a:solidFill>
                <a:latin typeface="IBM Plex Sans" pitchFamily="34" charset="0"/>
                <a:ea typeface="IBM Plex Sans" pitchFamily="34" charset="-122"/>
                <a:cs typeface="IBM Plex Sans" pitchFamily="34" charset="-120"/>
              </a:rPr>
              <a:t>Color: class purity. Size: images in the cell.</a:t>
            </a:r>
            <a:endParaRPr lang="en-US" sz="1200" dirty="0"/>
          </a:p>
        </p:txBody>
      </p:sp>
      <p:sp>
        <p:nvSpPr>
          <p:cNvPr id="7" name="Shape 4"/>
          <p:cNvSpPr/>
          <p:nvPr/>
        </p:nvSpPr>
        <p:spPr>
          <a:xfrm>
            <a:off x="5943541" y="1879526"/>
            <a:ext cx="5435679" cy="1905060"/>
          </a:xfrm>
          <a:prstGeom prst="roundRect">
            <a:avLst>
              <a:gd name="adj" fmla="val 4000"/>
            </a:avLst>
          </a:prstGeom>
          <a:solidFill>
            <a:srgbClr val="FFFEFA"/>
          </a:solidFill>
          <a:ln/>
        </p:spPr>
        <p:txBody>
          <a:bodyPr/>
          <a:lstStyle/>
          <a:p>
            <a:endParaRPr lang="en-US"/>
          </a:p>
        </p:txBody>
      </p:sp>
      <p:sp>
        <p:nvSpPr>
          <p:cNvPr id="8" name="Shape 5"/>
          <p:cNvSpPr/>
          <p:nvPr/>
        </p:nvSpPr>
        <p:spPr>
          <a:xfrm>
            <a:off x="5943541" y="1879526"/>
            <a:ext cx="5435679" cy="1905060"/>
          </a:xfrm>
          <a:custGeom>
            <a:avLst/>
            <a:gdLst/>
            <a:ahLst/>
            <a:cxnLst/>
            <a:rect l="l" t="t" r="r" b="b"/>
            <a:pathLst>
              <a:path w="5435679" h="1905060">
                <a:moveTo>
                  <a:pt x="0" y="76200"/>
                </a:moveTo>
                <a:lnTo>
                  <a:pt x="0" y="76200"/>
                </a:lnTo>
                <a:arcTo wR="76200" hR="76200" stAng="10800000" swAng="5400000"/>
                <a:lnTo>
                  <a:pt x="5359479" y="0"/>
                </a:lnTo>
                <a:arcTo wR="76200" hR="76200" stAng="16200000" swAng="5400000"/>
                <a:lnTo>
                  <a:pt x="5435679" y="76200"/>
                </a:lnTo>
                <a:arcTo wR="76200" hR="25400" stAng="0" swAng="-5400000"/>
                <a:lnTo>
                  <a:pt x="76200" y="50800"/>
                </a:lnTo>
                <a:arcTo wR="76200" hR="25400" stAng="16200000" swAng="-5400000"/>
                <a:close/>
              </a:path>
            </a:pathLst>
          </a:custGeom>
          <a:solidFill>
            <a:srgbClr val="E07A1F"/>
          </a:solidFill>
          <a:ln/>
        </p:spPr>
        <p:txBody>
          <a:bodyPr/>
          <a:lstStyle/>
          <a:p>
            <a:endParaRPr lang="en-US"/>
          </a:p>
        </p:txBody>
      </p:sp>
      <p:sp>
        <p:nvSpPr>
          <p:cNvPr id="9" name="Text 6"/>
          <p:cNvSpPr/>
          <p:nvPr/>
        </p:nvSpPr>
        <p:spPr>
          <a:xfrm>
            <a:off x="6172141" y="2266652"/>
            <a:ext cx="5127834" cy="665480"/>
          </a:xfrm>
          <a:prstGeom prst="rect">
            <a:avLst/>
          </a:prstGeom>
          <a:noFill/>
          <a:ln/>
        </p:spPr>
        <p:txBody>
          <a:bodyPr wrap="square" lIns="0" tIns="0" rIns="0" bIns="0" rtlCol="0" anchor="t">
            <a:normAutofit/>
          </a:bodyPr>
          <a:lstStyle/>
          <a:p>
            <a:pPr marL="0" indent="0" algn="l">
              <a:lnSpc>
                <a:spcPts val="5040"/>
              </a:lnSpc>
              <a:buNone/>
            </a:pPr>
            <a:r>
              <a:rPr lang="en-US" sz="4800" dirty="0">
                <a:solidFill>
                  <a:srgbClr val="A84B0E"/>
                </a:solidFill>
                <a:latin typeface="EB Garamond" pitchFamily="18" charset="0"/>
                <a:ea typeface="EB Garamond" pitchFamily="18" charset="-122"/>
                <a:cs typeface="EB Garamond" pitchFamily="18" charset="-120"/>
              </a:rPr>
              <a:t>98.19%</a:t>
            </a:r>
            <a:endParaRPr lang="en-US" sz="4800" dirty="0"/>
          </a:p>
        </p:txBody>
      </p:sp>
      <p:sp>
        <p:nvSpPr>
          <p:cNvPr id="10" name="Text 7"/>
          <p:cNvSpPr/>
          <p:nvPr/>
        </p:nvSpPr>
        <p:spPr>
          <a:xfrm>
            <a:off x="6172141" y="2932094"/>
            <a:ext cx="51278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Cell purity on validation images</a:t>
            </a:r>
            <a:endParaRPr lang="en-US" sz="1500" dirty="0"/>
          </a:p>
        </p:txBody>
      </p:sp>
      <p:sp>
        <p:nvSpPr>
          <p:cNvPr id="11" name="Text 8"/>
          <p:cNvSpPr/>
          <p:nvPr/>
        </p:nvSpPr>
        <p:spPr>
          <a:xfrm>
            <a:off x="6172141" y="3224157"/>
            <a:ext cx="5127834" cy="24822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17.4% with shuffled labels (95% range 17.0–17.7%, p = 0.001)</a:t>
            </a:r>
            <a:endParaRPr lang="en-US" sz="1300" dirty="0"/>
          </a:p>
        </p:txBody>
      </p:sp>
      <p:sp>
        <p:nvSpPr>
          <p:cNvPr id="12" name="Shape 9"/>
          <p:cNvSpPr/>
          <p:nvPr/>
        </p:nvSpPr>
        <p:spPr>
          <a:xfrm>
            <a:off x="5943541" y="3936981"/>
            <a:ext cx="5435679" cy="1905060"/>
          </a:xfrm>
          <a:prstGeom prst="roundRect">
            <a:avLst>
              <a:gd name="adj" fmla="val 4000"/>
            </a:avLst>
          </a:prstGeom>
          <a:solidFill>
            <a:srgbClr val="FFFEFA"/>
          </a:solidFill>
          <a:ln/>
        </p:spPr>
        <p:txBody>
          <a:bodyPr/>
          <a:lstStyle/>
          <a:p>
            <a:endParaRPr lang="en-US"/>
          </a:p>
        </p:txBody>
      </p:sp>
      <p:sp>
        <p:nvSpPr>
          <p:cNvPr id="13" name="Shape 10"/>
          <p:cNvSpPr/>
          <p:nvPr/>
        </p:nvSpPr>
        <p:spPr>
          <a:xfrm>
            <a:off x="5943541" y="3936981"/>
            <a:ext cx="5435679" cy="1905060"/>
          </a:xfrm>
          <a:custGeom>
            <a:avLst/>
            <a:gdLst/>
            <a:ahLst/>
            <a:cxnLst/>
            <a:rect l="l" t="t" r="r" b="b"/>
            <a:pathLst>
              <a:path w="5435679" h="1905060">
                <a:moveTo>
                  <a:pt x="0" y="76200"/>
                </a:moveTo>
                <a:lnTo>
                  <a:pt x="0" y="76200"/>
                </a:lnTo>
                <a:arcTo wR="76200" hR="76200" stAng="10800000" swAng="5400000"/>
                <a:lnTo>
                  <a:pt x="5359479" y="0"/>
                </a:lnTo>
                <a:arcTo wR="76200" hR="76200" stAng="16200000" swAng="5400000"/>
                <a:lnTo>
                  <a:pt x="5435679" y="76200"/>
                </a:lnTo>
                <a:arcTo wR="76200" hR="25400" stAng="0" swAng="-5400000"/>
                <a:lnTo>
                  <a:pt x="76200" y="50800"/>
                </a:lnTo>
                <a:arcTo wR="76200" hR="25400" stAng="16200000" swAng="-5400000"/>
                <a:close/>
              </a:path>
            </a:pathLst>
          </a:custGeom>
          <a:solidFill>
            <a:srgbClr val="2F6FB0"/>
          </a:solidFill>
          <a:ln/>
        </p:spPr>
        <p:txBody>
          <a:bodyPr/>
          <a:lstStyle/>
          <a:p>
            <a:endParaRPr lang="en-US"/>
          </a:p>
        </p:txBody>
      </p:sp>
      <p:sp>
        <p:nvSpPr>
          <p:cNvPr id="14" name="Text 11"/>
          <p:cNvSpPr/>
          <p:nvPr/>
        </p:nvSpPr>
        <p:spPr>
          <a:xfrm>
            <a:off x="6172141" y="4324114"/>
            <a:ext cx="5127834" cy="665480"/>
          </a:xfrm>
          <a:prstGeom prst="rect">
            <a:avLst/>
          </a:prstGeom>
          <a:noFill/>
          <a:ln/>
        </p:spPr>
        <p:txBody>
          <a:bodyPr wrap="square" lIns="0" tIns="0" rIns="0" bIns="0" rtlCol="0" anchor="t">
            <a:normAutofit/>
          </a:bodyPr>
          <a:lstStyle/>
          <a:p>
            <a:pPr marL="0" indent="0" algn="l">
              <a:lnSpc>
                <a:spcPts val="5040"/>
              </a:lnSpc>
              <a:buNone/>
            </a:pPr>
            <a:r>
              <a:rPr lang="en-US" sz="4800" dirty="0">
                <a:solidFill>
                  <a:srgbClr val="2F6FB0"/>
                </a:solidFill>
                <a:latin typeface="EB Garamond" pitchFamily="18" charset="0"/>
                <a:ea typeface="EB Garamond" pitchFamily="18" charset="-122"/>
                <a:cs typeface="EB Garamond" pitchFamily="18" charset="-120"/>
              </a:rPr>
              <a:t>6.18%</a:t>
            </a:r>
            <a:endParaRPr lang="en-US" sz="4800" dirty="0"/>
          </a:p>
        </p:txBody>
      </p:sp>
      <p:sp>
        <p:nvSpPr>
          <p:cNvPr id="15" name="Text 12"/>
          <p:cNvSpPr/>
          <p:nvPr/>
        </p:nvSpPr>
        <p:spPr>
          <a:xfrm>
            <a:off x="6172141" y="4989556"/>
            <a:ext cx="512783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Topological error (TE1)</a:t>
            </a:r>
            <a:endParaRPr lang="en-US" sz="1500" dirty="0"/>
          </a:p>
        </p:txBody>
      </p:sp>
      <p:sp>
        <p:nvSpPr>
          <p:cNvPr id="16" name="Text 13"/>
          <p:cNvSpPr/>
          <p:nvPr/>
        </p:nvSpPr>
        <p:spPr>
          <a:xfrm>
            <a:off x="6172141" y="5281613"/>
            <a:ext cx="5127834" cy="24822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Quantization error 1.041 on validation, 1.039 on training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2 · ERROR PATTERN ANALYSIS</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The CNN’s mistakes gather in a few hotspot cells</a:t>
            </a:r>
            <a:endParaRPr lang="en-US" sz="3200" dirty="0"/>
          </a:p>
        </p:txBody>
      </p:sp>
      <p:sp>
        <p:nvSpPr>
          <p:cNvPr id="4" name="Shape 2"/>
          <p:cNvSpPr/>
          <p:nvPr/>
        </p:nvSpPr>
        <p:spPr>
          <a:xfrm>
            <a:off x="819130" y="1885876"/>
            <a:ext cx="6210280" cy="3949819"/>
          </a:xfrm>
          <a:prstGeom prst="roundRect">
            <a:avLst>
              <a:gd name="adj" fmla="val 2412"/>
            </a:avLst>
          </a:prstGeom>
          <a:solidFill>
            <a:srgbClr val="FFFEFA"/>
          </a:solidFill>
          <a:ln w="12700">
            <a:solidFill>
              <a:srgbClr val="D9D4C7"/>
            </a:solidFill>
            <a:prstDash val="solid"/>
          </a:ln>
        </p:spPr>
        <p:txBody>
          <a:bodyPr/>
          <a:lstStyle/>
          <a:p>
            <a:endParaRPr lang="en-US"/>
          </a:p>
        </p:txBody>
      </p:sp>
      <p:pic>
        <p:nvPicPr>
          <p:cNvPr id="5" name="Image 0" descr="Validation error map on the 15 by 15 SOM: fill is the most common true digit, edge the most common wrong answer, size the number of mistakes"/>
          <p:cNvPicPr>
            <a:picLocks noChangeAspect="1"/>
          </p:cNvPicPr>
          <p:nvPr/>
        </p:nvPicPr>
        <p:blipFill>
          <a:blip r:embed="rId3"/>
          <a:srcRect l="-417" r="-417"/>
          <a:stretch/>
        </p:blipFill>
        <p:spPr>
          <a:xfrm>
            <a:off x="908030" y="1955781"/>
            <a:ext cx="6032480" cy="3810000"/>
          </a:xfrm>
          <a:prstGeom prst="rect">
            <a:avLst/>
          </a:prstGeom>
        </p:spPr>
      </p:pic>
      <p:sp>
        <p:nvSpPr>
          <p:cNvPr id="6" name="Shape 3"/>
          <p:cNvSpPr/>
          <p:nvPr/>
        </p:nvSpPr>
        <p:spPr>
          <a:xfrm>
            <a:off x="7340560" y="1879526"/>
            <a:ext cx="4038660" cy="2887682"/>
          </a:xfrm>
          <a:prstGeom prst="roundRect">
            <a:avLst>
              <a:gd name="adj" fmla="val 2639"/>
            </a:avLst>
          </a:prstGeom>
          <a:solidFill>
            <a:srgbClr val="FFFEFA"/>
          </a:solidFill>
          <a:ln/>
        </p:spPr>
        <p:txBody>
          <a:bodyPr/>
          <a:lstStyle/>
          <a:p>
            <a:endParaRPr lang="en-US"/>
          </a:p>
        </p:txBody>
      </p:sp>
      <p:sp>
        <p:nvSpPr>
          <p:cNvPr id="7" name="Shape 4"/>
          <p:cNvSpPr/>
          <p:nvPr/>
        </p:nvSpPr>
        <p:spPr>
          <a:xfrm>
            <a:off x="7340560" y="1879526"/>
            <a:ext cx="4038660" cy="2887682"/>
          </a:xfrm>
          <a:custGeom>
            <a:avLst/>
            <a:gdLst/>
            <a:ahLst/>
            <a:cxnLst/>
            <a:rect l="l" t="t" r="r" b="b"/>
            <a:pathLst>
              <a:path w="4038660" h="2887682">
                <a:moveTo>
                  <a:pt x="0" y="76200"/>
                </a:moveTo>
                <a:lnTo>
                  <a:pt x="0" y="76200"/>
                </a:lnTo>
                <a:arcTo wR="76200" hR="76200" stAng="10800000" swAng="5400000"/>
                <a:lnTo>
                  <a:pt x="3962460" y="0"/>
                </a:lnTo>
                <a:arcTo wR="76200" hR="76200" stAng="16200000" swAng="5400000"/>
                <a:lnTo>
                  <a:pt x="4038660" y="76200"/>
                </a:lnTo>
                <a:arcTo wR="76200" hR="25400" stAng="0" swAng="-5400000"/>
                <a:lnTo>
                  <a:pt x="76200" y="50800"/>
                </a:lnTo>
                <a:arcTo wR="76200" hR="25400" stAng="16200000" swAng="-5400000"/>
                <a:close/>
              </a:path>
            </a:pathLst>
          </a:custGeom>
          <a:solidFill>
            <a:srgbClr val="E07A1F"/>
          </a:solidFill>
          <a:ln/>
        </p:spPr>
        <p:txBody>
          <a:bodyPr/>
          <a:lstStyle/>
          <a:p>
            <a:endParaRPr lang="en-US"/>
          </a:p>
        </p:txBody>
      </p:sp>
      <p:sp>
        <p:nvSpPr>
          <p:cNvPr id="8" name="Text 5"/>
          <p:cNvSpPr/>
          <p:nvPr/>
        </p:nvSpPr>
        <p:spPr>
          <a:xfrm>
            <a:off x="7569160" y="2488468"/>
            <a:ext cx="3688903" cy="758766"/>
          </a:xfrm>
          <a:prstGeom prst="rect">
            <a:avLst/>
          </a:prstGeom>
          <a:noFill/>
          <a:ln/>
        </p:spPr>
        <p:txBody>
          <a:bodyPr wrap="square" lIns="0" tIns="0" rIns="0" bIns="0" rtlCol="0" anchor="t">
            <a:normAutofit/>
          </a:bodyPr>
          <a:lstStyle/>
          <a:p>
            <a:pPr marL="0" indent="0" algn="l">
              <a:lnSpc>
                <a:spcPts val="5775"/>
              </a:lnSpc>
              <a:buNone/>
            </a:pPr>
            <a:r>
              <a:rPr lang="en-US" sz="5500" dirty="0">
                <a:solidFill>
                  <a:srgbClr val="A84B0E"/>
                </a:solidFill>
                <a:latin typeface="EB Garamond" pitchFamily="18" charset="0"/>
                <a:ea typeface="EB Garamond" pitchFamily="18" charset="-122"/>
                <a:cs typeface="EB Garamond" pitchFamily="18" charset="-120"/>
              </a:rPr>
              <a:t>11.1×</a:t>
            </a:r>
            <a:endParaRPr lang="en-US" sz="5500" dirty="0"/>
          </a:p>
        </p:txBody>
      </p:sp>
      <p:sp>
        <p:nvSpPr>
          <p:cNvPr id="9" name="Text 6"/>
          <p:cNvSpPr/>
          <p:nvPr/>
        </p:nvSpPr>
        <p:spPr>
          <a:xfrm>
            <a:off x="7569160" y="3247194"/>
            <a:ext cx="368890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Concentration ratio</a:t>
            </a:r>
            <a:endParaRPr lang="en-US" sz="1500" dirty="0"/>
          </a:p>
        </p:txBody>
      </p:sp>
      <p:sp>
        <p:nvSpPr>
          <p:cNvPr id="10" name="Text 7"/>
          <p:cNvSpPr/>
          <p:nvPr/>
        </p:nvSpPr>
        <p:spPr>
          <a:xfrm>
            <a:off x="7569160" y="3539257"/>
            <a:ext cx="3688903" cy="69387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568"/>
                </a:solidFill>
                <a:latin typeface="IBM Plex Sans" pitchFamily="34" charset="0"/>
                <a:ea typeface="IBM Plex Sans" pitchFamily="34" charset="-122"/>
                <a:cs typeface="IBM Plex Sans" pitchFamily="34" charset="-120"/>
              </a:rPr>
              <a:t>11 hotspot cells hold 11.1 times their fair share of the 92 validation mistakes (95% range 6.1–17.6). Chance is about 1 (p = 0.005).</a:t>
            </a:r>
            <a:endParaRPr lang="en-US" sz="1300" dirty="0"/>
          </a:p>
        </p:txBody>
      </p:sp>
      <p:sp>
        <p:nvSpPr>
          <p:cNvPr id="11" name="Text 8"/>
          <p:cNvSpPr/>
          <p:nvPr/>
        </p:nvSpPr>
        <p:spPr>
          <a:xfrm>
            <a:off x="7340560" y="4919607"/>
            <a:ext cx="4038660" cy="922437"/>
          </a:xfrm>
          <a:prstGeom prst="roundRect">
            <a:avLst>
              <a:gd name="adj" fmla="val 5507"/>
            </a:avLst>
          </a:prstGeom>
          <a:solidFill>
            <a:srgbClr val="FFFEFA"/>
          </a:solidFill>
          <a:ln/>
        </p:spPr>
        <p:txBody>
          <a:bodyPr wrap="square" lIns="237831" tIns="112121" rIns="80818" bIns="86681" rtlCol="0" anchor="t">
            <a:normAutofit/>
          </a:bodyPr>
          <a:lstStyle/>
          <a:p>
            <a:pPr marL="0" indent="0" algn="l">
              <a:lnSpc>
                <a:spcPts val="1755"/>
              </a:lnSpc>
              <a:buNone/>
            </a:pPr>
            <a:r>
              <a:rPr lang="en-US" sz="1300" b="1" dirty="0">
                <a:solidFill>
                  <a:srgbClr val="4A5568"/>
                </a:solidFill>
                <a:latin typeface="IBM Plex Sans" pitchFamily="34" charset="0"/>
                <a:ea typeface="IBM Plex Sans" pitchFamily="34" charset="-122"/>
                <a:cs typeface="IBM Plex Sans" pitchFamily="34" charset="-120"/>
              </a:rPr>
              <a:t>Fill:</a:t>
            </a:r>
            <a:r>
              <a:rPr lang="en-US" sz="1300" dirty="0">
                <a:solidFill>
                  <a:srgbClr val="4A5568"/>
                </a:solidFill>
                <a:latin typeface="IBM Plex Sans" pitchFamily="34" charset="0"/>
                <a:ea typeface="IBM Plex Sans" pitchFamily="34" charset="-122"/>
                <a:cs typeface="IBM Plex Sans" pitchFamily="34" charset="-120"/>
              </a:rPr>
              <a:t> most common true digit. </a:t>
            </a:r>
            <a:r>
              <a:rPr lang="en-US" sz="1300" b="1" dirty="0">
                <a:solidFill>
                  <a:srgbClr val="4A5568"/>
                </a:solidFill>
                <a:latin typeface="IBM Plex Sans" pitchFamily="34" charset="0"/>
                <a:ea typeface="IBM Plex Sans" pitchFamily="34" charset="-122"/>
                <a:cs typeface="IBM Plex Sans" pitchFamily="34" charset="-120"/>
              </a:rPr>
              <a:t>Edge:</a:t>
            </a:r>
            <a:r>
              <a:rPr lang="en-US" sz="1300" dirty="0">
                <a:solidFill>
                  <a:srgbClr val="4A5568"/>
                </a:solidFill>
                <a:latin typeface="IBM Plex Sans" pitchFamily="34" charset="0"/>
                <a:ea typeface="IBM Plex Sans" pitchFamily="34" charset="-122"/>
                <a:cs typeface="IBM Plex Sans" pitchFamily="34" charset="-120"/>
              </a:rPr>
              <a:t> most common wrong answer. </a:t>
            </a:r>
            <a:r>
              <a:rPr lang="en-US" sz="1300" b="1" dirty="0">
                <a:solidFill>
                  <a:srgbClr val="4A5568"/>
                </a:solidFill>
                <a:latin typeface="IBM Plex Sans" pitchFamily="34" charset="0"/>
                <a:ea typeface="IBM Plex Sans" pitchFamily="34" charset="-122"/>
                <a:cs typeface="IBM Plex Sans" pitchFamily="34" charset="-120"/>
              </a:rPr>
              <a:t>Size:</a:t>
            </a:r>
            <a:r>
              <a:rPr lang="en-US" sz="1300" dirty="0">
                <a:solidFill>
                  <a:srgbClr val="4A5568"/>
                </a:solidFill>
                <a:latin typeface="IBM Plex Sans" pitchFamily="34" charset="0"/>
                <a:ea typeface="IBM Plex Sans" pitchFamily="34" charset="-122"/>
                <a:cs typeface="IBM Plex Sans" pitchFamily="34" charset="-120"/>
              </a:rPr>
              <a:t> how many mistakes.</a:t>
            </a:r>
            <a:endParaRPr lang="en-US" sz="1300" dirty="0"/>
          </a:p>
        </p:txBody>
      </p:sp>
      <p:sp>
        <p:nvSpPr>
          <p:cNvPr id="12" name="Shape 9"/>
          <p:cNvSpPr/>
          <p:nvPr/>
        </p:nvSpPr>
        <p:spPr>
          <a:xfrm>
            <a:off x="7340560" y="4919607"/>
            <a:ext cx="4038660" cy="922437"/>
          </a:xfrm>
          <a:custGeom>
            <a:avLst/>
            <a:gdLst/>
            <a:ahLst/>
            <a:cxnLst/>
            <a:rect l="l" t="t" r="r" b="b"/>
            <a:pathLst>
              <a:path w="4038660" h="922437">
                <a:moveTo>
                  <a:pt x="50800" y="922437"/>
                </a:moveTo>
                <a:lnTo>
                  <a:pt x="50800" y="922437"/>
                </a:lnTo>
                <a:arcTo wR="50800" hR="50800" stAng="5400000" swAng="5400000"/>
                <a:lnTo>
                  <a:pt x="0" y="50800"/>
                </a:lnTo>
                <a:arcTo wR="50800" hR="50800" stAng="10800000" swAng="5400000"/>
                <a:lnTo>
                  <a:pt x="50800" y="0"/>
                </a:lnTo>
                <a:lnTo>
                  <a:pt x="50800" y="922437"/>
                </a:lnTo>
                <a:close/>
              </a:path>
            </a:pathLst>
          </a:custGeom>
          <a:solidFill>
            <a:srgbClr val="14213D"/>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2 · ROBUSTNESS</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The pattern holds on all three grid sizes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210" y="1890956"/>
          <a:ext cx="10555010" cy="2468880"/>
        </p:xfrm>
        <a:graphic>
          <a:graphicData uri="http://schemas.openxmlformats.org/drawingml/2006/table">
            <a:tbl>
              <a:tblPr/>
              <a:tblGrid>
                <a:gridCol w="3588704">
                  <a:extLst>
                    <a:ext uri="{9D8B030D-6E8A-4147-A177-3AD203B41FA5}">
                      <a16:colId xmlns:a16="http://schemas.microsoft.com/office/drawing/2014/main" val="20000"/>
                    </a:ext>
                  </a:extLst>
                </a:gridCol>
                <a:gridCol w="2322102">
                  <a:extLst>
                    <a:ext uri="{9D8B030D-6E8A-4147-A177-3AD203B41FA5}">
                      <a16:colId xmlns:a16="http://schemas.microsoft.com/office/drawing/2014/main" val="20001"/>
                    </a:ext>
                  </a:extLst>
                </a:gridCol>
                <a:gridCol w="2322102">
                  <a:extLst>
                    <a:ext uri="{9D8B030D-6E8A-4147-A177-3AD203B41FA5}">
                      <a16:colId xmlns:a16="http://schemas.microsoft.com/office/drawing/2014/main" val="20002"/>
                    </a:ext>
                  </a:extLst>
                </a:gridCol>
                <a:gridCol w="2322102">
                  <a:extLst>
                    <a:ext uri="{9D8B030D-6E8A-4147-A177-3AD203B41FA5}">
                      <a16:colId xmlns:a16="http://schemas.microsoft.com/office/drawing/2014/main" val="20003"/>
                    </a:ext>
                  </a:extLst>
                </a:gridCol>
              </a:tblGrid>
              <a:tr h="411480">
                <a:tc>
                  <a:txBody>
                    <a:bodyPr/>
                    <a:lstStyle/>
                    <a:p>
                      <a:pPr marL="0" indent="0">
                        <a:lnSpc>
                          <a:spcPts val="2100"/>
                        </a:lnSpc>
                        <a:buNone/>
                      </a:pPr>
                      <a:r>
                        <a:rPr lang="en-US" sz="1500" b="1" dirty="0">
                          <a:solidFill>
                            <a:srgbClr val="F7F5F0"/>
                          </a:solidFill>
                          <a:latin typeface="IBM Plex Sans" pitchFamily="34" charset="0"/>
                          <a:ea typeface="IBM Plex Sans" pitchFamily="34" charset="-122"/>
                          <a:cs typeface="IBM Plex Sans" pitchFamily="34" charset="-120"/>
                        </a:rPr>
                        <a:t>Measure (validation)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7F5F0"/>
                          </a:solidFill>
                          <a:latin typeface="IBM Plex Sans" pitchFamily="34" charset="0"/>
                          <a:ea typeface="IBM Plex Sans" pitchFamily="34" charset="-122"/>
                          <a:cs typeface="IBM Plex Sans" pitchFamily="34" charset="-120"/>
                        </a:rPr>
                        <a:t>10×10</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7F5F0"/>
                          </a:solidFill>
                          <a:latin typeface="IBM Plex Sans" pitchFamily="34" charset="0"/>
                          <a:ea typeface="IBM Plex Sans" pitchFamily="34" charset="-122"/>
                          <a:cs typeface="IBM Plex Sans" pitchFamily="34" charset="-120"/>
                        </a:rPr>
                        <a:t>15×15</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2100"/>
                        </a:lnSpc>
                        <a:buNone/>
                      </a:pPr>
                      <a:r>
                        <a:rPr lang="en-US" sz="1500" b="1" dirty="0">
                          <a:solidFill>
                            <a:srgbClr val="F7F5F0"/>
                          </a:solidFill>
                          <a:latin typeface="IBM Plex Sans" pitchFamily="34" charset="0"/>
                          <a:ea typeface="IBM Plex Sans" pitchFamily="34" charset="-122"/>
                          <a:cs typeface="IBM Plex Sans" pitchFamily="34" charset="-120"/>
                        </a:rPr>
                        <a:t>20×20</a:t>
                      </a:r>
                      <a:endParaRPr lang="en-US" sz="1500" dirty="0">
                        <a:latin typeface="IBM Plex Sans" charset="0"/>
                        <a:ea typeface="IBM Plex Sans" charset="0"/>
                        <a:cs typeface="IBM Plex Sans" charset="0"/>
                      </a:endParaRPr>
                    </a:p>
                  </a:txBody>
                  <a:tcPr marL="66675" marR="66675" marT="66675" marB="6667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Hotspot cells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5</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A84B0E"/>
                          </a:solidFill>
                          <a:latin typeface="IBM Plex Sans" pitchFamily="34" charset="0"/>
                          <a:ea typeface="IBM Plex Sans" pitchFamily="34" charset="-122"/>
                          <a:cs typeface="IBM Plex Sans" pitchFamily="34" charset="-120"/>
                        </a:rPr>
                        <a:t>11</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20</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extLst>
                  <a:ext uri="{0D108BD9-81ED-4DB2-BD59-A6C34878D82A}">
                    <a16:rowId xmlns:a16="http://schemas.microsoft.com/office/drawing/2014/main" val="10001"/>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Concentration ratio (95% range)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10.5 (5.4–17.3)</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100"/>
                        </a:lnSpc>
                        <a:buNone/>
                      </a:pPr>
                      <a:r>
                        <a:rPr lang="en-US" sz="1500" dirty="0">
                          <a:solidFill>
                            <a:srgbClr val="A84B0E"/>
                          </a:solidFill>
                          <a:latin typeface="IBM Plex Sans" pitchFamily="34" charset="0"/>
                          <a:ea typeface="IBM Plex Sans" pitchFamily="34" charset="-122"/>
                          <a:cs typeface="IBM Plex Sans" pitchFamily="34" charset="-120"/>
                        </a:rPr>
                        <a:t>11.1 (6.1–17.6)</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13.4 (8.0–19.3)</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extLst>
                  <a:ext uri="{0D108BD9-81ED-4DB2-BD59-A6C34878D82A}">
                    <a16:rowId xmlns:a16="http://schemas.microsoft.com/office/drawing/2014/main" val="10002"/>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Chance level (median)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0.98</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A84B0E"/>
                          </a:solidFill>
                          <a:latin typeface="IBM Plex Sans" pitchFamily="34" charset="0"/>
                          <a:ea typeface="IBM Plex Sans" pitchFamily="34" charset="-122"/>
                          <a:cs typeface="IBM Plex Sans" pitchFamily="34" charset="-120"/>
                        </a:rPr>
                        <a:t>0.94</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0.93</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extLst>
                  <a:ext uri="{0D108BD9-81ED-4DB2-BD59-A6C34878D82A}">
                    <a16:rowId xmlns:a16="http://schemas.microsoft.com/office/drawing/2014/main" val="10003"/>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Spearman, error rate vs purity</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−0.755</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100"/>
                        </a:lnSpc>
                        <a:buNone/>
                      </a:pPr>
                      <a:r>
                        <a:rPr lang="en-US" sz="1500" dirty="0">
                          <a:solidFill>
                            <a:srgbClr val="A84B0E"/>
                          </a:solidFill>
                          <a:latin typeface="IBM Plex Sans" pitchFamily="34" charset="0"/>
                          <a:ea typeface="IBM Plex Sans" pitchFamily="34" charset="-122"/>
                          <a:cs typeface="IBM Plex Sans" pitchFamily="34" charset="-120"/>
                        </a:rPr>
                        <a:t>−0.810</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−0.766</a:t>
                      </a:r>
                      <a:endParaRPr lang="en-US" sz="1500" dirty="0">
                        <a:latin typeface="IBM Plex Sans" charset="0"/>
                        <a:ea typeface="IBM Plex Sans" charset="0"/>
                        <a:cs typeface="IBM Plex Sans" charset="0"/>
                      </a:endParaRPr>
                    </a:p>
                  </a:txBody>
                  <a:tcPr marL="66675" marR="66675" marT="66675" marB="66675">
                    <a:lnL w="12700" cap="flat" cmpd="sng" algn="ctr">
                      <a:solidFill>
                        <a:srgbClr val="BFBCB3"/>
                      </a:solidFill>
                      <a:prstDash val="solid"/>
                      <a:round/>
                      <a:headEnd type="none" w="med" len="med"/>
                      <a:tailEnd type="none" w="med" len="med"/>
                    </a:lnL>
                    <a:lnR w="12700" cap="flat" cmpd="sng" algn="ctr">
                      <a:solidFill>
                        <a:srgbClr val="BFBCB3"/>
                      </a:solidFill>
                      <a:prstDash val="solid"/>
                      <a:round/>
                      <a:headEnd type="none" w="med" len="med"/>
                      <a:tailEnd type="none" w="med" len="med"/>
                    </a:lnR>
                    <a:lnT w="12700" cap="flat" cmpd="sng" algn="ctr">
                      <a:solidFill>
                        <a:srgbClr val="CBCBC7"/>
                      </a:solidFill>
                      <a:prstDash val="solid"/>
                      <a:round/>
                      <a:headEnd type="none" w="med" len="med"/>
                      <a:tailEnd type="none" w="med" len="med"/>
                    </a:lnT>
                    <a:lnB w="12700" cap="flat" cmpd="sng" algn="ctr">
                      <a:solidFill>
                        <a:srgbClr val="BFBCB3"/>
                      </a:solidFill>
                      <a:prstDash val="solid"/>
                      <a:round/>
                      <a:headEnd type="none" w="med" len="med"/>
                      <a:tailEnd type="none" w="med" len="med"/>
                    </a:lnB>
                    <a:solidFill>
                      <a:srgbClr val="EFEBE0"/>
                    </a:solidFill>
                  </a:tcPr>
                </a:tc>
                <a:extLst>
                  <a:ext uri="{0D108BD9-81ED-4DB2-BD59-A6C34878D82A}">
                    <a16:rowId xmlns:a16="http://schemas.microsoft.com/office/drawing/2014/main" val="10004"/>
                  </a:ext>
                </a:extLst>
              </a:tr>
              <a:tr h="411480">
                <a:tc>
                  <a:txBody>
                    <a:bodyPr/>
                    <a:lstStyle/>
                    <a:p>
                      <a:pPr marL="0" indent="0">
                        <a:lnSpc>
                          <a:spcPts val="2100"/>
                        </a:lnSpc>
                        <a:buNone/>
                      </a:pPr>
                      <a:r>
                        <a:rPr lang="en-US" sz="1500" dirty="0">
                          <a:solidFill>
                            <a:srgbClr val="14213D"/>
                          </a:solidFill>
                          <a:latin typeface="IBM Plex Sans" pitchFamily="34" charset="0"/>
                          <a:ea typeface="IBM Plex Sans" pitchFamily="34" charset="-122"/>
                          <a:cs typeface="IBM Plex Sans" pitchFamily="34" charset="-120"/>
                        </a:rPr>
                        <a:t>Spearman, error rate vs digit mix</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+0.778</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A84B0E"/>
                          </a:solidFill>
                          <a:latin typeface="IBM Plex Sans" pitchFamily="34" charset="0"/>
                          <a:ea typeface="IBM Plex Sans" pitchFamily="34" charset="-122"/>
                          <a:cs typeface="IBM Plex Sans" pitchFamily="34" charset="-120"/>
                        </a:rPr>
                        <a:t>+0.816</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tc>
                  <a:txBody>
                    <a:bodyPr/>
                    <a:lstStyle/>
                    <a:p>
                      <a:pPr marL="0" indent="0" algn="r">
                        <a:lnSpc>
                          <a:spcPts val="2100"/>
                        </a:lnSpc>
                        <a:buNone/>
                      </a:pPr>
                      <a:r>
                        <a:rPr lang="en-US" sz="1500" dirty="0">
                          <a:solidFill>
                            <a:srgbClr val="14213D"/>
                          </a:solidFill>
                          <a:latin typeface="IBM Plex Sans" pitchFamily="34" charset="0"/>
                          <a:ea typeface="IBM Plex Sans" pitchFamily="34" charset="-122"/>
                          <a:cs typeface="IBM Plex Sans" pitchFamily="34" charset="-120"/>
                        </a:rPr>
                        <a:t>+0.768</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BC7"/>
                      </a:solidFill>
                      <a:prstDash val="solid"/>
                      <a:round/>
                      <a:headEnd type="none" w="med" len="med"/>
                      <a:tailEnd type="none" w="med" len="med"/>
                    </a:lnL>
                    <a:lnR w="12700" cap="flat" cmpd="sng" algn="ctr">
                      <a:solidFill>
                        <a:srgbClr val="CBCBC7"/>
                      </a:solidFill>
                      <a:prstDash val="solid"/>
                      <a:round/>
                      <a:headEnd type="none" w="med" len="med"/>
                      <a:tailEnd type="none" w="med" len="med"/>
                    </a:lnR>
                    <a:lnT w="12700" cap="flat" cmpd="sng" algn="ctr">
                      <a:solidFill>
                        <a:srgbClr val="BFBCB3"/>
                      </a:solidFill>
                      <a:prstDash val="solid"/>
                      <a:round/>
                      <a:headEnd type="none" w="med" len="med"/>
                      <a:tailEnd type="none" w="med" len="med"/>
                    </a:lnT>
                    <a:lnB w="12700" cap="flat" cmpd="sng" algn="ctr">
                      <a:solidFill>
                        <a:srgbClr val="CBCBC7"/>
                      </a:solidFill>
                      <a:prstDash val="solid"/>
                      <a:round/>
                      <a:headEnd type="none" w="med" len="med"/>
                      <a:tailEnd type="none" w="med" len="med"/>
                    </a:lnB>
                    <a:solidFill>
                      <a:srgbClr val="FFFEFA"/>
                    </a:solidFill>
                  </a:tcPr>
                </a:tc>
                <a:extLst>
                  <a:ext uri="{0D108BD9-81ED-4DB2-BD59-A6C34878D82A}">
                    <a16:rowId xmlns:a16="http://schemas.microsoft.com/office/drawing/2014/main" val="10005"/>
                  </a:ext>
                </a:extLst>
              </a:tr>
            </a:tbl>
          </a:graphicData>
        </a:graphic>
      </p:graphicFrame>
      <p:sp>
        <p:nvSpPr>
          <p:cNvPr id="5" name="Text 2"/>
          <p:cNvSpPr/>
          <p:nvPr/>
        </p:nvSpPr>
        <p:spPr>
          <a:xfrm>
            <a:off x="812780" y="5344244"/>
            <a:ext cx="10883434"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92 validation mistakes, all p = 0.005. Cells with purer digits make fewer mistakes, and cells with more mixed digits make more. The robustness check says the pattern holds on both other grids. Do not use the ratios to compare grids with each other.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2 · HOTSPOT SAMPLES</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What the hotspot mistakes look like</a:t>
            </a:r>
            <a:endParaRPr lang="en-US" sz="3200" dirty="0"/>
          </a:p>
        </p:txBody>
      </p:sp>
      <p:sp>
        <p:nvSpPr>
          <p:cNvPr id="4" name="Shape 2"/>
          <p:cNvSpPr/>
          <p:nvPr/>
        </p:nvSpPr>
        <p:spPr>
          <a:xfrm>
            <a:off x="819130" y="1885869"/>
            <a:ext cx="3162280" cy="3949819"/>
          </a:xfrm>
          <a:prstGeom prst="roundRect">
            <a:avLst>
              <a:gd name="adj" fmla="val 3012"/>
            </a:avLst>
          </a:prstGeom>
          <a:solidFill>
            <a:srgbClr val="FFFEFA"/>
          </a:solidFill>
          <a:ln w="12700">
            <a:solidFill>
              <a:srgbClr val="D9D4C7"/>
            </a:solidFill>
            <a:prstDash val="solid"/>
          </a:ln>
        </p:spPr>
        <p:txBody>
          <a:bodyPr/>
          <a:lstStyle/>
          <a:p>
            <a:endParaRPr lang="en-US"/>
          </a:p>
        </p:txBody>
      </p:sp>
      <p:pic>
        <p:nvPicPr>
          <p:cNvPr id="5" name="Image 0" descr="One representative mistake from each of the 11 SOM error hotspots, with true digit, prediction and confidence"/>
          <p:cNvPicPr>
            <a:picLocks noChangeAspect="1"/>
          </p:cNvPicPr>
          <p:nvPr/>
        </p:nvPicPr>
        <p:blipFill>
          <a:blip r:embed="rId3"/>
          <a:srcRect l="-966" r="-966"/>
          <a:stretch/>
        </p:blipFill>
        <p:spPr>
          <a:xfrm>
            <a:off x="1003280" y="1955775"/>
            <a:ext cx="2793980" cy="3810000"/>
          </a:xfrm>
          <a:prstGeom prst="rect">
            <a:avLst/>
          </a:prstGeom>
        </p:spPr>
      </p:pic>
      <p:sp>
        <p:nvSpPr>
          <p:cNvPr id="6" name="Shape 3"/>
          <p:cNvSpPr/>
          <p:nvPr/>
        </p:nvSpPr>
        <p:spPr>
          <a:xfrm>
            <a:off x="4292560" y="1879519"/>
            <a:ext cx="7086660" cy="1219200"/>
          </a:xfrm>
          <a:prstGeom prst="roundRect">
            <a:avLst>
              <a:gd name="adj" fmla="val 4167"/>
            </a:avLst>
          </a:prstGeom>
          <a:solidFill>
            <a:srgbClr val="FFFEFA"/>
          </a:solidFill>
          <a:ln/>
        </p:spPr>
        <p:txBody>
          <a:bodyPr/>
          <a:lstStyle/>
          <a:p>
            <a:endParaRPr lang="en-US"/>
          </a:p>
        </p:txBody>
      </p:sp>
      <p:sp>
        <p:nvSpPr>
          <p:cNvPr id="7" name="Shape 4"/>
          <p:cNvSpPr/>
          <p:nvPr/>
        </p:nvSpPr>
        <p:spPr>
          <a:xfrm>
            <a:off x="4292560" y="1879519"/>
            <a:ext cx="7086660" cy="1219200"/>
          </a:xfrm>
          <a:custGeom>
            <a:avLst/>
            <a:gdLst/>
            <a:ahLst/>
            <a:cxnLst/>
            <a:rect l="l" t="t" r="r" b="b"/>
            <a:pathLst>
              <a:path w="7086660" h="1219200">
                <a:moveTo>
                  <a:pt x="50800" y="1219200"/>
                </a:moveTo>
                <a:lnTo>
                  <a:pt x="50800" y="1219200"/>
                </a:lnTo>
                <a:arcTo wR="50800" hR="50800" stAng="5400000" swAng="5400000"/>
                <a:lnTo>
                  <a:pt x="0" y="50800"/>
                </a:lnTo>
                <a:arcTo wR="50800" hR="50800" stAng="10800000" swAng="5400000"/>
                <a:lnTo>
                  <a:pt x="50800" y="0"/>
                </a:lnTo>
                <a:lnTo>
                  <a:pt x="50800" y="1219200"/>
                </a:lnTo>
                <a:close/>
              </a:path>
            </a:pathLst>
          </a:custGeom>
          <a:solidFill>
            <a:srgbClr val="E07A1F"/>
          </a:solidFill>
          <a:ln/>
        </p:spPr>
        <p:txBody>
          <a:bodyPr/>
          <a:lstStyle/>
          <a:p>
            <a:endParaRPr lang="en-US"/>
          </a:p>
        </p:txBody>
      </p:sp>
      <p:sp>
        <p:nvSpPr>
          <p:cNvPr id="8" name="Text 5"/>
          <p:cNvSpPr/>
          <p:nvPr/>
        </p:nvSpPr>
        <p:spPr>
          <a:xfrm>
            <a:off x="4570690" y="2057276"/>
            <a:ext cx="677732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One example per hotspot</a:t>
            </a:r>
            <a:endParaRPr lang="en-US" sz="1700" dirty="0"/>
          </a:p>
        </p:txBody>
      </p:sp>
      <p:sp>
        <p:nvSpPr>
          <p:cNvPr id="9" name="Text 6"/>
          <p:cNvSpPr/>
          <p:nvPr/>
        </p:nvSpPr>
        <p:spPr>
          <a:xfrm>
            <a:off x="4570690" y="2367136"/>
            <a:ext cx="6777328"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Each of the 11 hotspot cells shows its most representative mistake, with the true digit, the predicted digit and the CNN’s confidence.</a:t>
            </a:r>
            <a:endParaRPr lang="en-US" sz="1400" dirty="0"/>
          </a:p>
        </p:txBody>
      </p:sp>
      <p:sp>
        <p:nvSpPr>
          <p:cNvPr id="10" name="Shape 7"/>
          <p:cNvSpPr/>
          <p:nvPr/>
        </p:nvSpPr>
        <p:spPr>
          <a:xfrm>
            <a:off x="4292560" y="3251119"/>
            <a:ext cx="7086660" cy="1219260"/>
          </a:xfrm>
          <a:prstGeom prst="roundRect">
            <a:avLst>
              <a:gd name="adj" fmla="val 4166"/>
            </a:avLst>
          </a:prstGeom>
          <a:solidFill>
            <a:srgbClr val="FFFEFA"/>
          </a:solidFill>
          <a:ln/>
        </p:spPr>
        <p:txBody>
          <a:bodyPr/>
          <a:lstStyle/>
          <a:p>
            <a:endParaRPr lang="en-US"/>
          </a:p>
        </p:txBody>
      </p:sp>
      <p:sp>
        <p:nvSpPr>
          <p:cNvPr id="11" name="Shape 8"/>
          <p:cNvSpPr/>
          <p:nvPr/>
        </p:nvSpPr>
        <p:spPr>
          <a:xfrm>
            <a:off x="4292560" y="3251119"/>
            <a:ext cx="7086660" cy="1219260"/>
          </a:xfrm>
          <a:custGeom>
            <a:avLst/>
            <a:gdLst/>
            <a:ahLst/>
            <a:cxnLst/>
            <a:rect l="l" t="t" r="r" b="b"/>
            <a:pathLst>
              <a:path w="7086660" h="1219260">
                <a:moveTo>
                  <a:pt x="50800" y="1219260"/>
                </a:moveTo>
                <a:lnTo>
                  <a:pt x="50800" y="1219260"/>
                </a:lnTo>
                <a:arcTo wR="50800" hR="50800" stAng="5400000" swAng="5400000"/>
                <a:lnTo>
                  <a:pt x="0" y="50800"/>
                </a:lnTo>
                <a:arcTo wR="50800" hR="50800" stAng="10800000" swAng="5400000"/>
                <a:lnTo>
                  <a:pt x="50800" y="0"/>
                </a:lnTo>
                <a:lnTo>
                  <a:pt x="50800" y="1219260"/>
                </a:lnTo>
                <a:close/>
              </a:path>
            </a:pathLst>
          </a:custGeom>
          <a:solidFill>
            <a:srgbClr val="2F6FB0"/>
          </a:solidFill>
          <a:ln/>
        </p:spPr>
        <p:txBody>
          <a:bodyPr/>
          <a:lstStyle/>
          <a:p>
            <a:endParaRPr lang="en-US"/>
          </a:p>
        </p:txBody>
      </p:sp>
      <p:sp>
        <p:nvSpPr>
          <p:cNvPr id="12" name="Text 9"/>
          <p:cNvSpPr/>
          <p:nvPr/>
        </p:nvSpPr>
        <p:spPr>
          <a:xfrm>
            <a:off x="4570690" y="3428876"/>
            <a:ext cx="677732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Sure and unsure mistakes</a:t>
            </a:r>
            <a:endParaRPr lang="en-US" sz="1700" dirty="0"/>
          </a:p>
        </p:txBody>
      </p:sp>
      <p:sp>
        <p:nvSpPr>
          <p:cNvPr id="13" name="Text 10"/>
          <p:cNvSpPr/>
          <p:nvPr/>
        </p:nvSpPr>
        <p:spPr>
          <a:xfrm>
            <a:off x="4570690" y="3738736"/>
            <a:ext cx="6777328"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Confidence runs from 0.449 to 0.999, so some hotspot mistakes are confident and some are not.</a:t>
            </a:r>
            <a:endParaRPr lang="en-US" sz="1400" dirty="0"/>
          </a:p>
        </p:txBody>
      </p:sp>
      <p:sp>
        <p:nvSpPr>
          <p:cNvPr id="14" name="Shape 11"/>
          <p:cNvSpPr/>
          <p:nvPr/>
        </p:nvSpPr>
        <p:spPr>
          <a:xfrm>
            <a:off x="4292560" y="4622775"/>
            <a:ext cx="7086660" cy="1219260"/>
          </a:xfrm>
          <a:prstGeom prst="roundRect">
            <a:avLst>
              <a:gd name="adj" fmla="val 4166"/>
            </a:avLst>
          </a:prstGeom>
          <a:solidFill>
            <a:srgbClr val="FFFEFA"/>
          </a:solidFill>
          <a:ln/>
        </p:spPr>
        <p:txBody>
          <a:bodyPr/>
          <a:lstStyle/>
          <a:p>
            <a:endParaRPr lang="en-US"/>
          </a:p>
        </p:txBody>
      </p:sp>
      <p:sp>
        <p:nvSpPr>
          <p:cNvPr id="15" name="Shape 12"/>
          <p:cNvSpPr/>
          <p:nvPr/>
        </p:nvSpPr>
        <p:spPr>
          <a:xfrm>
            <a:off x="4292560" y="4622775"/>
            <a:ext cx="7086660" cy="1219260"/>
          </a:xfrm>
          <a:custGeom>
            <a:avLst/>
            <a:gdLst/>
            <a:ahLst/>
            <a:cxnLst/>
            <a:rect l="l" t="t" r="r" b="b"/>
            <a:pathLst>
              <a:path w="7086660" h="1219260">
                <a:moveTo>
                  <a:pt x="50800" y="1219260"/>
                </a:moveTo>
                <a:lnTo>
                  <a:pt x="50800" y="1219260"/>
                </a:lnTo>
                <a:arcTo wR="50800" hR="50800" stAng="5400000" swAng="5400000"/>
                <a:lnTo>
                  <a:pt x="0" y="50800"/>
                </a:lnTo>
                <a:arcTo wR="50800" hR="50800" stAng="10800000" swAng="5400000"/>
                <a:lnTo>
                  <a:pt x="50800" y="0"/>
                </a:lnTo>
                <a:lnTo>
                  <a:pt x="50800" y="1219260"/>
                </a:lnTo>
                <a:close/>
              </a:path>
            </a:pathLst>
          </a:custGeom>
          <a:solidFill>
            <a:srgbClr val="14213D"/>
          </a:solidFill>
          <a:ln/>
        </p:spPr>
        <p:txBody>
          <a:bodyPr/>
          <a:lstStyle/>
          <a:p>
            <a:endParaRPr lang="en-US"/>
          </a:p>
        </p:txBody>
      </p:sp>
      <p:sp>
        <p:nvSpPr>
          <p:cNvPr id="16" name="Text 13"/>
          <p:cNvSpPr/>
          <p:nvPr/>
        </p:nvSpPr>
        <p:spPr>
          <a:xfrm>
            <a:off x="4570690" y="4800538"/>
            <a:ext cx="677732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Why are these hard?</a:t>
            </a:r>
            <a:endParaRPr lang="en-US" sz="1700" dirty="0"/>
          </a:p>
        </p:txBody>
      </p:sp>
      <p:sp>
        <p:nvSpPr>
          <p:cNvPr id="17" name="Text 14"/>
          <p:cNvSpPr/>
          <p:nvPr/>
        </p:nvSpPr>
        <p:spPr>
          <a:xfrm>
            <a:off x="4570690" y="5110398"/>
            <a:ext cx="6777328"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[TBD: your reading of the samples, for example similar shapes, noise or a rare handwriting style.]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KEY NUMBERS</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F7F5F0"/>
                </a:solidFill>
                <a:latin typeface="EB Garamond" pitchFamily="18" charset="0"/>
                <a:ea typeface="EB Garamond" pitchFamily="18" charset="-122"/>
                <a:cs typeface="EB Garamond" pitchFamily="18" charset="-120"/>
              </a:rPr>
              <a:t>The SOM concentrates errors more than k-means</a:t>
            </a:r>
            <a:endParaRPr lang="en-US" sz="3200" dirty="0"/>
          </a:p>
        </p:txBody>
      </p:sp>
      <p:sp>
        <p:nvSpPr>
          <p:cNvPr id="4" name="Shape 2"/>
          <p:cNvSpPr/>
          <p:nvPr/>
        </p:nvSpPr>
        <p:spPr>
          <a:xfrm>
            <a:off x="812780" y="1879519"/>
            <a:ext cx="5130820" cy="3261539"/>
          </a:xfrm>
          <a:prstGeom prst="roundRect">
            <a:avLst>
              <a:gd name="adj" fmla="val 4673"/>
            </a:avLst>
          </a:prstGeom>
          <a:solidFill>
            <a:srgbClr val="1F2F52"/>
          </a:solidFill>
          <a:ln/>
        </p:spPr>
        <p:txBody>
          <a:bodyPr/>
          <a:lstStyle/>
          <a:p>
            <a:endParaRPr lang="en-US"/>
          </a:p>
        </p:txBody>
      </p:sp>
      <p:sp>
        <p:nvSpPr>
          <p:cNvPr id="5" name="Shape 3"/>
          <p:cNvSpPr/>
          <p:nvPr/>
        </p:nvSpPr>
        <p:spPr>
          <a:xfrm>
            <a:off x="812780" y="1879519"/>
            <a:ext cx="5130820" cy="3261539"/>
          </a:xfrm>
          <a:custGeom>
            <a:avLst/>
            <a:gdLst/>
            <a:ahLst/>
            <a:cxnLst/>
            <a:rect l="l" t="t" r="r" b="b"/>
            <a:pathLst>
              <a:path w="5130820" h="3261539">
                <a:moveTo>
                  <a:pt x="0" y="152400"/>
                </a:moveTo>
                <a:lnTo>
                  <a:pt x="0" y="152400"/>
                </a:lnTo>
                <a:arcTo wR="152400" hR="152400" stAng="10800000" swAng="5400000"/>
                <a:lnTo>
                  <a:pt x="4978420" y="0"/>
                </a:lnTo>
                <a:arcTo wR="152400" hR="152400" stAng="16200000" swAng="5400000"/>
                <a:lnTo>
                  <a:pt x="5130820" y="152400"/>
                </a:lnTo>
                <a:arcTo wR="152400" hR="88900" stAng="0" swAng="-5400000"/>
                <a:lnTo>
                  <a:pt x="152400" y="63500"/>
                </a:lnTo>
                <a:arcTo wR="152400" hR="88900" stAng="16200000" swAng="-5400000"/>
                <a:close/>
              </a:path>
            </a:pathLst>
          </a:custGeom>
          <a:solidFill>
            <a:srgbClr val="E07A1F"/>
          </a:solidFill>
          <a:ln/>
        </p:spPr>
        <p:txBody>
          <a:bodyPr/>
          <a:lstStyle/>
          <a:p>
            <a:endParaRPr lang="en-US"/>
          </a:p>
        </p:txBody>
      </p:sp>
      <p:sp>
        <p:nvSpPr>
          <p:cNvPr id="6" name="Text 4"/>
          <p:cNvSpPr/>
          <p:nvPr/>
        </p:nvSpPr>
        <p:spPr>
          <a:xfrm>
            <a:off x="1117580" y="2331777"/>
            <a:ext cx="4656857" cy="1422420"/>
          </a:xfrm>
          <a:prstGeom prst="rect">
            <a:avLst/>
          </a:prstGeom>
          <a:noFill/>
          <a:ln/>
        </p:spPr>
        <p:txBody>
          <a:bodyPr wrap="square" lIns="0" tIns="0" rIns="0" bIns="0" rtlCol="0" anchor="t">
            <a:normAutofit/>
          </a:bodyPr>
          <a:lstStyle/>
          <a:p>
            <a:pPr marL="0" indent="0" algn="l">
              <a:lnSpc>
                <a:spcPts val="11000"/>
              </a:lnSpc>
              <a:buNone/>
            </a:pPr>
            <a:r>
              <a:rPr lang="en-US" sz="11000" dirty="0">
                <a:solidFill>
                  <a:srgbClr val="F2A65A"/>
                </a:solidFill>
                <a:latin typeface="EB Garamond" pitchFamily="18" charset="0"/>
                <a:ea typeface="EB Garamond" pitchFamily="18" charset="-122"/>
                <a:cs typeface="EB Garamond" pitchFamily="18" charset="-120"/>
              </a:rPr>
              <a:t>11.1</a:t>
            </a:r>
            <a:endParaRPr lang="en-US" sz="11000" dirty="0"/>
          </a:p>
        </p:txBody>
      </p:sp>
      <p:sp>
        <p:nvSpPr>
          <p:cNvPr id="7" name="Text 5"/>
          <p:cNvSpPr/>
          <p:nvPr/>
        </p:nvSpPr>
        <p:spPr>
          <a:xfrm>
            <a:off x="1117580" y="3830358"/>
            <a:ext cx="4656857"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7F5F0"/>
                </a:solidFill>
                <a:latin typeface="IBM Plex Sans" pitchFamily="34" charset="0"/>
                <a:ea typeface="IBM Plex Sans" pitchFamily="34" charset="-122"/>
                <a:cs typeface="IBM Plex Sans" pitchFamily="34" charset="-120"/>
              </a:rPr>
              <a:t>SOM hotspot ratio</a:t>
            </a:r>
            <a:endParaRPr lang="en-US" sz="1800" dirty="0"/>
          </a:p>
        </p:txBody>
      </p:sp>
      <p:sp>
        <p:nvSpPr>
          <p:cNvPr id="8" name="Text 6"/>
          <p:cNvSpPr/>
          <p:nvPr/>
        </p:nvSpPr>
        <p:spPr>
          <a:xfrm>
            <a:off x="1117580" y="4251958"/>
            <a:ext cx="4656857"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E0"/>
                </a:solidFill>
                <a:latin typeface="IBM Plex Sans" pitchFamily="34" charset="0"/>
                <a:ea typeface="IBM Plex Sans" pitchFamily="34" charset="-122"/>
                <a:cs typeface="IBM Plex Sans" pitchFamily="34" charset="-120"/>
              </a:rPr>
              <a:t>15×15 grid, 225 cells · 95% range 6.1–17.6 · hotspots hold 1.6% of images</a:t>
            </a:r>
            <a:endParaRPr lang="en-US" sz="1400" dirty="0"/>
          </a:p>
        </p:txBody>
      </p:sp>
      <p:sp>
        <p:nvSpPr>
          <p:cNvPr id="9" name="Shape 7"/>
          <p:cNvSpPr/>
          <p:nvPr/>
        </p:nvSpPr>
        <p:spPr>
          <a:xfrm>
            <a:off x="6248400" y="1879519"/>
            <a:ext cx="5130820" cy="3261539"/>
          </a:xfrm>
          <a:prstGeom prst="roundRect">
            <a:avLst>
              <a:gd name="adj" fmla="val 4673"/>
            </a:avLst>
          </a:prstGeom>
          <a:solidFill>
            <a:srgbClr val="1F2F52"/>
          </a:solidFill>
          <a:ln/>
        </p:spPr>
        <p:txBody>
          <a:bodyPr/>
          <a:lstStyle/>
          <a:p>
            <a:endParaRPr lang="en-US"/>
          </a:p>
        </p:txBody>
      </p:sp>
      <p:sp>
        <p:nvSpPr>
          <p:cNvPr id="10" name="Shape 8"/>
          <p:cNvSpPr/>
          <p:nvPr/>
        </p:nvSpPr>
        <p:spPr>
          <a:xfrm>
            <a:off x="6248400" y="1879519"/>
            <a:ext cx="5130820" cy="3261539"/>
          </a:xfrm>
          <a:custGeom>
            <a:avLst/>
            <a:gdLst/>
            <a:ahLst/>
            <a:cxnLst/>
            <a:rect l="l" t="t" r="r" b="b"/>
            <a:pathLst>
              <a:path w="5130820" h="3261539">
                <a:moveTo>
                  <a:pt x="0" y="152400"/>
                </a:moveTo>
                <a:lnTo>
                  <a:pt x="0" y="152400"/>
                </a:lnTo>
                <a:arcTo wR="152400" hR="152400" stAng="10800000" swAng="5400000"/>
                <a:lnTo>
                  <a:pt x="4978420" y="0"/>
                </a:lnTo>
                <a:arcTo wR="152400" hR="152400" stAng="16200000" swAng="5400000"/>
                <a:lnTo>
                  <a:pt x="5130820" y="152400"/>
                </a:lnTo>
                <a:arcTo wR="152400" hR="88900" stAng="0" swAng="-5400000"/>
                <a:lnTo>
                  <a:pt x="152400" y="63500"/>
                </a:lnTo>
                <a:arcTo wR="152400" hR="88900" stAng="16200000" swAng="-5400000"/>
                <a:close/>
              </a:path>
            </a:pathLst>
          </a:custGeom>
          <a:solidFill>
            <a:srgbClr val="8FB4DE"/>
          </a:solidFill>
          <a:ln/>
        </p:spPr>
        <p:txBody>
          <a:bodyPr/>
          <a:lstStyle/>
          <a:p>
            <a:endParaRPr lang="en-US"/>
          </a:p>
        </p:txBody>
      </p:sp>
      <p:sp>
        <p:nvSpPr>
          <p:cNvPr id="11" name="Text 9"/>
          <p:cNvSpPr/>
          <p:nvPr/>
        </p:nvSpPr>
        <p:spPr>
          <a:xfrm>
            <a:off x="6553200" y="2331777"/>
            <a:ext cx="4656857" cy="1422420"/>
          </a:xfrm>
          <a:prstGeom prst="rect">
            <a:avLst/>
          </a:prstGeom>
          <a:noFill/>
          <a:ln/>
        </p:spPr>
        <p:txBody>
          <a:bodyPr wrap="square" lIns="0" tIns="0" rIns="0" bIns="0" rtlCol="0" anchor="t">
            <a:normAutofit/>
          </a:bodyPr>
          <a:lstStyle/>
          <a:p>
            <a:pPr marL="0" indent="0" algn="l">
              <a:lnSpc>
                <a:spcPts val="11000"/>
              </a:lnSpc>
              <a:buNone/>
            </a:pPr>
            <a:r>
              <a:rPr lang="en-US" sz="11000" dirty="0">
                <a:solidFill>
                  <a:srgbClr val="8FB4DE"/>
                </a:solidFill>
                <a:latin typeface="EB Garamond" pitchFamily="18" charset="0"/>
                <a:ea typeface="EB Garamond" pitchFamily="18" charset="-122"/>
                <a:cs typeface="EB Garamond" pitchFamily="18" charset="-120"/>
              </a:rPr>
              <a:t>5.6</a:t>
            </a:r>
            <a:endParaRPr lang="en-US" sz="11000" dirty="0"/>
          </a:p>
        </p:txBody>
      </p:sp>
      <p:sp>
        <p:nvSpPr>
          <p:cNvPr id="12" name="Text 10"/>
          <p:cNvSpPr/>
          <p:nvPr/>
        </p:nvSpPr>
        <p:spPr>
          <a:xfrm>
            <a:off x="6553200" y="3830358"/>
            <a:ext cx="4656857"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7F5F0"/>
                </a:solidFill>
                <a:latin typeface="IBM Plex Sans" pitchFamily="34" charset="0"/>
                <a:ea typeface="IBM Plex Sans" pitchFamily="34" charset="-122"/>
                <a:cs typeface="IBM Plex Sans" pitchFamily="34" charset="-120"/>
              </a:rPr>
              <a:t>k-means hotspot ratio</a:t>
            </a:r>
            <a:endParaRPr lang="en-US" sz="1800" dirty="0"/>
          </a:p>
        </p:txBody>
      </p:sp>
      <p:sp>
        <p:nvSpPr>
          <p:cNvPr id="13" name="Text 11"/>
          <p:cNvSpPr/>
          <p:nvPr/>
        </p:nvSpPr>
        <p:spPr>
          <a:xfrm>
            <a:off x="6553200" y="4251958"/>
            <a:ext cx="4656857"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E0"/>
                </a:solidFill>
                <a:latin typeface="IBM Plex Sans" pitchFamily="34" charset="0"/>
                <a:ea typeface="IBM Plex Sans" pitchFamily="34" charset="-122"/>
                <a:cs typeface="IBM Plex Sans" pitchFamily="34" charset="-120"/>
              </a:rPr>
              <a:t>225 clusters, median of 10 seeds (4.6–6.1) · hotspots hold 3.8% of images</a:t>
            </a:r>
            <a:endParaRPr lang="en-US" sz="1400" dirty="0"/>
          </a:p>
        </p:txBody>
      </p:sp>
      <p:sp>
        <p:nvSpPr>
          <p:cNvPr id="14" name="Text 12"/>
          <p:cNvSpPr/>
          <p:nvPr/>
        </p:nvSpPr>
        <p:spPr>
          <a:xfrm>
            <a:off x="812780" y="5344238"/>
            <a:ext cx="10883434"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1E0"/>
                </a:solidFill>
                <a:latin typeface="IBM Plex Sans" pitchFamily="34" charset="0"/>
                <a:ea typeface="IBM Plex Sans" pitchFamily="34" charset="-122"/>
                <a:cs typeface="IBM Plex Sans" pitchFamily="34" charset="-120"/>
              </a:rPr>
              <a:t>Hotspot ratio: the share of mistakes in the 11 hotspot cells divided by the share of images in them. A ratio of 1 means mistakes are spread evenly. Cells are chosen on one half of the validation images and measured on the other.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2 · BASELINE COMPARISON</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Predicting CNN mistakes: AUROC by method</a:t>
            </a:r>
            <a:endParaRPr lang="en-US" sz="3200" dirty="0"/>
          </a:p>
        </p:txBody>
      </p:sp>
      <p:sp>
        <p:nvSpPr>
          <p:cNvPr id="4" name="Text 2"/>
          <p:cNvSpPr/>
          <p:nvPr/>
        </p:nvSpPr>
        <p:spPr>
          <a:xfrm>
            <a:off x="812780" y="2016621"/>
            <a:ext cx="2485370" cy="30984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SOM cell</a:t>
            </a:r>
            <a:endParaRPr lang="en-US" sz="1600" dirty="0"/>
          </a:p>
        </p:txBody>
      </p:sp>
      <p:sp>
        <p:nvSpPr>
          <p:cNvPr id="5" name="Shape 3"/>
          <p:cNvSpPr/>
          <p:nvPr/>
        </p:nvSpPr>
        <p:spPr>
          <a:xfrm>
            <a:off x="3378160" y="1981076"/>
            <a:ext cx="3479780" cy="355580"/>
          </a:xfrm>
          <a:prstGeom prst="roundRect">
            <a:avLst>
              <a:gd name="adj" fmla="val 14287"/>
            </a:avLst>
          </a:prstGeom>
          <a:solidFill>
            <a:srgbClr val="E07A1F"/>
          </a:solidFill>
          <a:ln/>
        </p:spPr>
        <p:txBody>
          <a:bodyPr/>
          <a:lstStyle/>
          <a:p>
            <a:endParaRPr lang="en-US"/>
          </a:p>
        </p:txBody>
      </p:sp>
      <p:sp>
        <p:nvSpPr>
          <p:cNvPr id="6" name="Text 4"/>
          <p:cNvSpPr/>
          <p:nvPr/>
        </p:nvSpPr>
        <p:spPr>
          <a:xfrm>
            <a:off x="7010341" y="2016621"/>
            <a:ext cx="2339507" cy="30984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B0E"/>
                </a:solidFill>
                <a:latin typeface="IBM Plex Sans" pitchFamily="34" charset="0"/>
                <a:ea typeface="IBM Plex Sans" pitchFamily="34" charset="-122"/>
                <a:cs typeface="IBM Plex Sans" pitchFamily="34" charset="-120"/>
              </a:rPr>
              <a:t>0.685 (0.624–0.738)</a:t>
            </a:r>
            <a:endParaRPr lang="en-US" sz="1600" dirty="0"/>
          </a:p>
        </p:txBody>
      </p:sp>
      <p:sp>
        <p:nvSpPr>
          <p:cNvPr id="7" name="Text 5"/>
          <p:cNvSpPr/>
          <p:nvPr/>
        </p:nvSpPr>
        <p:spPr>
          <a:xfrm>
            <a:off x="812780" y="2549959"/>
            <a:ext cx="2485370"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k-means cell</a:t>
            </a:r>
            <a:endParaRPr lang="en-US" sz="1600" dirty="0"/>
          </a:p>
        </p:txBody>
      </p:sp>
      <p:sp>
        <p:nvSpPr>
          <p:cNvPr id="8" name="Shape 6"/>
          <p:cNvSpPr/>
          <p:nvPr/>
        </p:nvSpPr>
        <p:spPr>
          <a:xfrm>
            <a:off x="3378160" y="2514420"/>
            <a:ext cx="3520420" cy="355580"/>
          </a:xfrm>
          <a:prstGeom prst="roundRect">
            <a:avLst>
              <a:gd name="adj" fmla="val 14287"/>
            </a:avLst>
          </a:prstGeom>
          <a:solidFill>
            <a:srgbClr val="5F6B85"/>
          </a:solidFill>
          <a:ln/>
        </p:spPr>
        <p:txBody>
          <a:bodyPr/>
          <a:lstStyle/>
          <a:p>
            <a:endParaRPr lang="en-US"/>
          </a:p>
        </p:txBody>
      </p:sp>
      <p:sp>
        <p:nvSpPr>
          <p:cNvPr id="9" name="Text 7"/>
          <p:cNvSpPr/>
          <p:nvPr/>
        </p:nvSpPr>
        <p:spPr>
          <a:xfrm>
            <a:off x="7050981" y="2549959"/>
            <a:ext cx="2318790"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0.693 (0.651–0.729)</a:t>
            </a:r>
            <a:endParaRPr lang="en-US" sz="1600" dirty="0"/>
          </a:p>
        </p:txBody>
      </p:sp>
      <p:sp>
        <p:nvSpPr>
          <p:cNvPr id="10" name="Text 8"/>
          <p:cNvSpPr/>
          <p:nvPr/>
        </p:nvSpPr>
        <p:spPr>
          <a:xfrm>
            <a:off x="812780" y="3083297"/>
            <a:ext cx="2485370"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kNN impurity</a:t>
            </a:r>
            <a:endParaRPr lang="en-US" sz="1600" dirty="0"/>
          </a:p>
        </p:txBody>
      </p:sp>
      <p:sp>
        <p:nvSpPr>
          <p:cNvPr id="11" name="Shape 9"/>
          <p:cNvSpPr/>
          <p:nvPr/>
        </p:nvSpPr>
        <p:spPr>
          <a:xfrm>
            <a:off x="3378160" y="3047758"/>
            <a:ext cx="4438650" cy="355580"/>
          </a:xfrm>
          <a:prstGeom prst="roundRect">
            <a:avLst>
              <a:gd name="adj" fmla="val 14287"/>
            </a:avLst>
          </a:prstGeom>
          <a:solidFill>
            <a:srgbClr val="5F6B85"/>
          </a:solidFill>
          <a:ln/>
        </p:spPr>
        <p:txBody>
          <a:bodyPr/>
          <a:lstStyle/>
          <a:p>
            <a:endParaRPr lang="en-US"/>
          </a:p>
        </p:txBody>
      </p:sp>
      <p:sp>
        <p:nvSpPr>
          <p:cNvPr id="12" name="Text 10"/>
          <p:cNvSpPr/>
          <p:nvPr/>
        </p:nvSpPr>
        <p:spPr>
          <a:xfrm>
            <a:off x="7969210" y="3083297"/>
            <a:ext cx="2318790"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0.874 (0.829–0.917)</a:t>
            </a:r>
            <a:endParaRPr lang="en-US" sz="1600" dirty="0"/>
          </a:p>
        </p:txBody>
      </p:sp>
      <p:sp>
        <p:nvSpPr>
          <p:cNvPr id="13" name="Text 11"/>
          <p:cNvSpPr/>
          <p:nvPr/>
        </p:nvSpPr>
        <p:spPr>
          <a:xfrm>
            <a:off x="812780" y="3616641"/>
            <a:ext cx="2485370"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Max-softmax</a:t>
            </a:r>
            <a:endParaRPr lang="en-US" sz="1600" dirty="0"/>
          </a:p>
        </p:txBody>
      </p:sp>
      <p:sp>
        <p:nvSpPr>
          <p:cNvPr id="14" name="Shape 12"/>
          <p:cNvSpPr/>
          <p:nvPr/>
        </p:nvSpPr>
        <p:spPr>
          <a:xfrm>
            <a:off x="3378160" y="3581102"/>
            <a:ext cx="4984730" cy="355580"/>
          </a:xfrm>
          <a:prstGeom prst="roundRect">
            <a:avLst>
              <a:gd name="adj" fmla="val 14287"/>
            </a:avLst>
          </a:prstGeom>
          <a:solidFill>
            <a:srgbClr val="5F6B85"/>
          </a:solidFill>
          <a:ln/>
        </p:spPr>
        <p:txBody>
          <a:bodyPr/>
          <a:lstStyle/>
          <a:p>
            <a:endParaRPr lang="en-US"/>
          </a:p>
        </p:txBody>
      </p:sp>
      <p:sp>
        <p:nvSpPr>
          <p:cNvPr id="15" name="Text 13"/>
          <p:cNvSpPr/>
          <p:nvPr/>
        </p:nvSpPr>
        <p:spPr>
          <a:xfrm>
            <a:off x="8515291" y="3616641"/>
            <a:ext cx="2318790" cy="309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IBM Plex Sans" pitchFamily="34" charset="0"/>
                <a:ea typeface="IBM Plex Sans" pitchFamily="34" charset="-122"/>
                <a:cs typeface="IBM Plex Sans" pitchFamily="34" charset="-120"/>
              </a:rPr>
              <a:t>0.981 (0.974–0.987)</a:t>
            </a:r>
            <a:endParaRPr lang="en-US" sz="1600" dirty="0"/>
          </a:p>
        </p:txBody>
      </p:sp>
      <p:sp>
        <p:nvSpPr>
          <p:cNvPr id="16" name="Shape 14"/>
          <p:cNvSpPr/>
          <p:nvPr/>
        </p:nvSpPr>
        <p:spPr>
          <a:xfrm>
            <a:off x="812780" y="4689097"/>
            <a:ext cx="10566440" cy="1152942"/>
          </a:xfrm>
          <a:prstGeom prst="roundRect">
            <a:avLst>
              <a:gd name="adj" fmla="val 4406"/>
            </a:avLst>
          </a:prstGeom>
          <a:solidFill>
            <a:srgbClr val="FFFEFA"/>
          </a:solidFill>
          <a:ln/>
        </p:spPr>
        <p:txBody>
          <a:bodyPr/>
          <a:lstStyle/>
          <a:p>
            <a:endParaRPr lang="en-US"/>
          </a:p>
        </p:txBody>
      </p:sp>
      <p:sp>
        <p:nvSpPr>
          <p:cNvPr id="17" name="Shape 15"/>
          <p:cNvSpPr/>
          <p:nvPr/>
        </p:nvSpPr>
        <p:spPr>
          <a:xfrm>
            <a:off x="812780" y="4689097"/>
            <a:ext cx="10566440" cy="1152942"/>
          </a:xfrm>
          <a:custGeom>
            <a:avLst/>
            <a:gdLst/>
            <a:ahLst/>
            <a:cxnLst/>
            <a:rect l="l" t="t" r="r" b="b"/>
            <a:pathLst>
              <a:path w="10566440" h="1152942">
                <a:moveTo>
                  <a:pt x="50800" y="1152942"/>
                </a:moveTo>
                <a:lnTo>
                  <a:pt x="50800" y="1152942"/>
                </a:lnTo>
                <a:arcTo wR="50800" hR="50800" stAng="5400000" swAng="5400000"/>
                <a:lnTo>
                  <a:pt x="0" y="50800"/>
                </a:lnTo>
                <a:arcTo wR="50800" hR="50800" stAng="10800000" swAng="5400000"/>
                <a:lnTo>
                  <a:pt x="50800" y="0"/>
                </a:lnTo>
                <a:lnTo>
                  <a:pt x="50800" y="1152942"/>
                </a:lnTo>
                <a:close/>
              </a:path>
            </a:pathLst>
          </a:custGeom>
          <a:solidFill>
            <a:srgbClr val="E07A1F"/>
          </a:solidFill>
          <a:ln/>
        </p:spPr>
        <p:txBody>
          <a:bodyPr/>
          <a:lstStyle/>
          <a:p>
            <a:endParaRPr lang="en-US"/>
          </a:p>
        </p:txBody>
      </p:sp>
      <p:sp>
        <p:nvSpPr>
          <p:cNvPr id="18" name="Text 16"/>
          <p:cNvSpPr/>
          <p:nvPr/>
        </p:nvSpPr>
        <p:spPr>
          <a:xfrm>
            <a:off x="1090910" y="4866853"/>
            <a:ext cx="10361501" cy="30984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Reading:</a:t>
            </a:r>
            <a:r>
              <a:rPr lang="en-US" sz="1600" dirty="0">
                <a:solidFill>
                  <a:srgbClr val="14213D"/>
                </a:solidFill>
                <a:latin typeface="IBM Plex Sans" pitchFamily="34" charset="0"/>
                <a:ea typeface="IBM Plex Sans" pitchFamily="34" charset="-122"/>
                <a:cs typeface="IBM Plex Sans" pitchFamily="34" charset="-120"/>
              </a:rPr>
              <a:t> the SOM’s value is the interpretable map, not better error detection.</a:t>
            </a:r>
            <a:endParaRPr lang="en-US" sz="1600" dirty="0"/>
          </a:p>
        </p:txBody>
      </p:sp>
      <p:sp>
        <p:nvSpPr>
          <p:cNvPr id="19" name="Text 17"/>
          <p:cNvSpPr/>
          <p:nvPr/>
        </p:nvSpPr>
        <p:spPr>
          <a:xfrm>
            <a:off x="1090910" y="5202076"/>
            <a:ext cx="10361501" cy="48760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Average precision: SOM 0.053, k-means 0.034, kNN 0.228, max-softmax 0.336. Same 92 validation mistakes, 15×15 grid, 95% ranges in brackets. Bar length is proportional to AUROC.</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3</a:t>
            </a:r>
            <a:endParaRPr lang="en-US" sz="1200" dirty="0"/>
          </a:p>
        </p:txBody>
      </p:sp>
      <p:sp>
        <p:nvSpPr>
          <p:cNvPr id="3" name="Text 1"/>
          <p:cNvSpPr>
            <a:spLocks noGrp="1"/>
          </p:cNvSpPr>
          <p:nvPr>
            <p:ph type="title"/>
          </p:nvPr>
        </p:nvSpPr>
        <p:spPr>
          <a:xfrm>
            <a:off x="812780" y="1229314"/>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Novelty detection</a:t>
            </a:r>
            <a:endParaRPr lang="en-US" sz="3200" dirty="0"/>
          </a:p>
        </p:txBody>
      </p:sp>
      <p:sp>
        <p:nvSpPr>
          <p:cNvPr id="4" name="Shape 2"/>
          <p:cNvSpPr/>
          <p:nvPr/>
        </p:nvSpPr>
        <p:spPr>
          <a:xfrm>
            <a:off x="822305" y="1889044"/>
            <a:ext cx="10547390" cy="3943469"/>
          </a:xfrm>
          <a:prstGeom prst="roundRect">
            <a:avLst>
              <a:gd name="adj" fmla="val 2335"/>
            </a:avLst>
          </a:prstGeom>
          <a:solidFill>
            <a:srgbClr val="FFFEFA"/>
          </a:solidFill>
          <a:ln w="19050">
            <a:solidFill>
              <a:srgbClr val="B9B2A0"/>
            </a:solidFill>
            <a:prstDash val="dash"/>
          </a:ln>
        </p:spPr>
        <p:txBody>
          <a:bodyPr/>
          <a:lstStyle/>
          <a:p>
            <a:endParaRPr lang="en-US"/>
          </a:p>
        </p:txBody>
      </p:sp>
      <p:sp>
        <p:nvSpPr>
          <p:cNvPr id="5" name="Text 3"/>
          <p:cNvSpPr/>
          <p:nvPr/>
        </p:nvSpPr>
        <p:spPr>
          <a:xfrm>
            <a:off x="3417243" y="3547114"/>
            <a:ext cx="5357455"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4A5568"/>
                </a:solidFill>
                <a:latin typeface="IBM Plex Sans" pitchFamily="34" charset="0"/>
                <a:ea typeface="IBM Plex Sans" pitchFamily="34" charset="-122"/>
                <a:cs typeface="IBM Plex Sans" pitchFamily="34" charset="-120"/>
              </a:rPr>
              <a:t>[Results go here once Phase 3 is complete]</a:t>
            </a:r>
            <a:endParaRPr lang="en-US" sz="1800" dirty="0"/>
          </a:p>
        </p:txBody>
      </p:sp>
      <p:sp>
        <p:nvSpPr>
          <p:cNvPr id="6" name="Text 4"/>
          <p:cNvSpPr/>
          <p:nvPr/>
        </p:nvSpPr>
        <p:spPr>
          <a:xfrm>
            <a:off x="831830" y="3943344"/>
            <a:ext cx="10528281" cy="25650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6A6455"/>
                </a:solidFill>
                <a:latin typeface="IBM Plex Sans" pitchFamily="34" charset="0"/>
                <a:ea typeface="IBM Plex Sans" pitchFamily="34" charset="-122"/>
                <a:cs typeface="IBM Plex Sans" pitchFamily="34" charset="-120"/>
              </a:rPr>
              <a:t>Planned: SOM quantization error and U-matrix distance against max-softmax, energy and Mahalanobis, scored by AUROC</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PHASE 4</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Guided retraining</a:t>
            </a:r>
            <a:endParaRPr lang="en-US" sz="3200" dirty="0"/>
          </a:p>
        </p:txBody>
      </p:sp>
      <p:sp>
        <p:nvSpPr>
          <p:cNvPr id="4" name="Shape 2"/>
          <p:cNvSpPr/>
          <p:nvPr/>
        </p:nvSpPr>
        <p:spPr>
          <a:xfrm>
            <a:off x="822305" y="1889051"/>
            <a:ext cx="10547390" cy="3943469"/>
          </a:xfrm>
          <a:prstGeom prst="roundRect">
            <a:avLst>
              <a:gd name="adj" fmla="val 2335"/>
            </a:avLst>
          </a:prstGeom>
          <a:solidFill>
            <a:srgbClr val="FFFEFA"/>
          </a:solidFill>
          <a:ln w="19050">
            <a:solidFill>
              <a:srgbClr val="B9B2A0"/>
            </a:solidFill>
            <a:prstDash val="dash"/>
          </a:ln>
        </p:spPr>
        <p:txBody>
          <a:bodyPr/>
          <a:lstStyle/>
          <a:p>
            <a:endParaRPr lang="en-US"/>
          </a:p>
        </p:txBody>
      </p:sp>
      <p:sp>
        <p:nvSpPr>
          <p:cNvPr id="5" name="Text 3"/>
          <p:cNvSpPr/>
          <p:nvPr/>
        </p:nvSpPr>
        <p:spPr>
          <a:xfrm>
            <a:off x="3417243" y="3547120"/>
            <a:ext cx="5357455" cy="345440"/>
          </a:xfrm>
          <a:prstGeom prst="rect">
            <a:avLst/>
          </a:prstGeom>
          <a:noFill/>
          <a:ln/>
        </p:spPr>
        <p:txBody>
          <a:bodyPr wrap="square" lIns="0" tIns="0" rIns="0" bIns="0" rtlCol="0" anchor="t">
            <a:normAutofit/>
          </a:bodyPr>
          <a:lstStyle/>
          <a:p>
            <a:pPr marL="0" indent="0" algn="ctr">
              <a:lnSpc>
                <a:spcPts val="2520"/>
              </a:lnSpc>
              <a:buNone/>
            </a:pPr>
            <a:r>
              <a:rPr lang="en-US" sz="1800" dirty="0">
                <a:solidFill>
                  <a:srgbClr val="4A5568"/>
                </a:solidFill>
                <a:latin typeface="IBM Plex Sans" pitchFamily="34" charset="0"/>
                <a:ea typeface="IBM Plex Sans" pitchFamily="34" charset="-122"/>
                <a:cs typeface="IBM Plex Sans" pitchFamily="34" charset="-120"/>
              </a:rPr>
              <a:t>[Results go here once Phase 4 is complete]</a:t>
            </a:r>
            <a:endParaRPr lang="en-US" sz="1800" dirty="0"/>
          </a:p>
        </p:txBody>
      </p:sp>
      <p:sp>
        <p:nvSpPr>
          <p:cNvPr id="6" name="Text 4"/>
          <p:cNvSpPr/>
          <p:nvPr/>
        </p:nvSpPr>
        <p:spPr>
          <a:xfrm>
            <a:off x="1283405" y="3943350"/>
            <a:ext cx="9625132" cy="25650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6A6455"/>
                </a:solidFill>
                <a:latin typeface="IBM Plex Sans" pitchFamily="34" charset="0"/>
                <a:ea typeface="IBM Plex Sans" pitchFamily="34" charset="-122"/>
                <a:cs typeface="IBM Plex Sans" pitchFamily="34" charset="-120"/>
              </a:rPr>
              <a:t>Planned: SOM-guided selection of hard examples against random selection, with the same budget and seeds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END-TO-END COMPARISON · RESULTS</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CF1 against CF2 on the same test images</a:t>
            </a:r>
            <a:endParaRPr lang="en-US" sz="3200" dirty="0"/>
          </a:p>
        </p:txBody>
      </p:sp>
      <p:sp>
        <p:nvSpPr>
          <p:cNvPr id="4" name="Text 2"/>
          <p:cNvSpPr/>
          <p:nvPr/>
        </p:nvSpPr>
        <p:spPr>
          <a:xfrm>
            <a:off x="812780" y="1879526"/>
            <a:ext cx="5049287"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CF1 · sample → CNN → prediction</a:t>
            </a:r>
            <a:endParaRPr lang="en-US" sz="1400" dirty="0"/>
          </a:p>
        </p:txBody>
      </p:sp>
      <p:sp>
        <p:nvSpPr>
          <p:cNvPr id="5" name="Shape 3"/>
          <p:cNvSpPr/>
          <p:nvPr/>
        </p:nvSpPr>
        <p:spPr>
          <a:xfrm>
            <a:off x="819130" y="2236341"/>
            <a:ext cx="4889520" cy="3147278"/>
          </a:xfrm>
          <a:prstGeom prst="roundRect">
            <a:avLst>
              <a:gd name="adj" fmla="val 3026"/>
            </a:avLst>
          </a:prstGeom>
          <a:solidFill>
            <a:srgbClr val="FFFEFA"/>
          </a:solidFill>
          <a:ln w="12700">
            <a:solidFill>
              <a:srgbClr val="D9D4C7"/>
            </a:solidFill>
            <a:prstDash val="solid"/>
          </a:ln>
        </p:spPr>
        <p:txBody>
          <a:bodyPr/>
          <a:lstStyle/>
          <a:p>
            <a:endParaRPr lang="en-US"/>
          </a:p>
        </p:txBody>
      </p:sp>
      <p:pic>
        <p:nvPicPr>
          <p:cNvPr id="6" name="Image 0" descr="CF1: confusion matrix of the CNN-only path on the test set"/>
          <p:cNvPicPr>
            <a:picLocks noChangeAspect="1"/>
          </p:cNvPicPr>
          <p:nvPr/>
        </p:nvPicPr>
        <p:blipFill>
          <a:blip r:embed="rId3"/>
          <a:srcRect l="-12291" r="-12291"/>
          <a:stretch/>
        </p:blipFill>
        <p:spPr>
          <a:xfrm>
            <a:off x="1041380" y="2349463"/>
            <a:ext cx="4444960" cy="2920960"/>
          </a:xfrm>
          <a:prstGeom prst="rect">
            <a:avLst/>
          </a:prstGeom>
        </p:spPr>
      </p:pic>
      <p:pic>
        <p:nvPicPr>
          <p:cNvPr id="7" name="Image 1" descr="arrow-right"/>
          <p:cNvPicPr>
            <a:picLocks noChangeAspect="1"/>
          </p:cNvPicPr>
          <p:nvPr/>
        </p:nvPicPr>
        <p:blipFill>
          <a:blip r:embed="rId4"/>
          <a:srcRect l="-8" r="-8"/>
          <a:stretch/>
        </p:blipFill>
        <p:spPr>
          <a:xfrm>
            <a:off x="5867400" y="3507767"/>
            <a:ext cx="457200" cy="253960"/>
          </a:xfrm>
          <a:prstGeom prst="rect">
            <a:avLst/>
          </a:prstGeom>
        </p:spPr>
      </p:pic>
      <p:sp>
        <p:nvSpPr>
          <p:cNvPr id="8" name="Text 4"/>
          <p:cNvSpPr/>
          <p:nvPr/>
        </p:nvSpPr>
        <p:spPr>
          <a:xfrm>
            <a:off x="6477000" y="1879526"/>
            <a:ext cx="5049287"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CF2 · sample → SOM / graph → CNN → prediction</a:t>
            </a:r>
            <a:endParaRPr lang="en-US" sz="1400" dirty="0"/>
          </a:p>
        </p:txBody>
      </p:sp>
      <p:sp>
        <p:nvSpPr>
          <p:cNvPr id="9" name="Shape 5"/>
          <p:cNvSpPr/>
          <p:nvPr/>
        </p:nvSpPr>
        <p:spPr>
          <a:xfrm>
            <a:off x="6486525" y="2239516"/>
            <a:ext cx="4883170" cy="3140928"/>
          </a:xfrm>
          <a:prstGeom prst="roundRect">
            <a:avLst>
              <a:gd name="adj" fmla="val 2931"/>
            </a:avLst>
          </a:prstGeom>
          <a:solidFill>
            <a:srgbClr val="FFFEFA"/>
          </a:solidFill>
          <a:ln w="19050">
            <a:solidFill>
              <a:srgbClr val="B9B2A0"/>
            </a:solidFill>
            <a:prstDash val="dash"/>
          </a:ln>
        </p:spPr>
        <p:txBody>
          <a:bodyPr/>
          <a:lstStyle/>
          <a:p>
            <a:endParaRPr lang="en-US"/>
          </a:p>
        </p:txBody>
      </p:sp>
      <p:pic>
        <p:nvPicPr>
          <p:cNvPr id="10" name="Image 2" descr="Chart"/>
          <p:cNvPicPr>
            <a:picLocks noChangeAspect="1"/>
          </p:cNvPicPr>
          <p:nvPr/>
        </p:nvPicPr>
        <p:blipFill>
          <a:blip r:embed="rId5"/>
          <a:srcRect/>
          <a:stretch/>
        </p:blipFill>
        <p:spPr>
          <a:xfrm>
            <a:off x="8699481" y="3401020"/>
            <a:ext cx="457200" cy="457200"/>
          </a:xfrm>
          <a:prstGeom prst="rect">
            <a:avLst/>
          </a:prstGeom>
        </p:spPr>
      </p:pic>
      <p:sp>
        <p:nvSpPr>
          <p:cNvPr id="11" name="Text 6"/>
          <p:cNvSpPr/>
          <p:nvPr/>
        </p:nvSpPr>
        <p:spPr>
          <a:xfrm>
            <a:off x="7664845" y="3934420"/>
            <a:ext cx="2526530" cy="309840"/>
          </a:xfrm>
          <a:prstGeom prst="rect">
            <a:avLst/>
          </a:prstGeom>
          <a:noFill/>
          <a:ln/>
        </p:spPr>
        <p:txBody>
          <a:bodyPr wrap="square" lIns="0" tIns="0" rIns="0" bIns="0" rtlCol="0" anchor="t">
            <a:normAutofit/>
          </a:bodyPr>
          <a:lstStyle/>
          <a:p>
            <a:pPr marL="0" indent="0" algn="ctr">
              <a:lnSpc>
                <a:spcPts val="2240"/>
              </a:lnSpc>
              <a:buNone/>
            </a:pPr>
            <a:r>
              <a:rPr lang="en-US" sz="1600" dirty="0">
                <a:solidFill>
                  <a:srgbClr val="4A5568"/>
                </a:solidFill>
                <a:latin typeface="IBM Plex Sans" pitchFamily="34" charset="0"/>
                <a:ea typeface="IBM Plex Sans" pitchFamily="34" charset="-122"/>
                <a:cs typeface="IBM Plex Sans" pitchFamily="34" charset="-120"/>
              </a:rPr>
              <a:t>[CF2 confusion matrix]</a:t>
            </a:r>
            <a:endParaRPr lang="en-US" sz="1600" dirty="0"/>
          </a:p>
        </p:txBody>
      </p:sp>
      <p:sp>
        <p:nvSpPr>
          <p:cNvPr id="12" name="Text 7"/>
          <p:cNvSpPr/>
          <p:nvPr/>
        </p:nvSpPr>
        <p:spPr>
          <a:xfrm>
            <a:off x="812780" y="5593147"/>
            <a:ext cx="10883434"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CF1 is the baseline CNN’s test confusion matrix from Phase 1. [TBD: one sentence on how the predictions change in CF2.]</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0" y="81278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84B0E"/>
                </a:solidFill>
                <a:latin typeface="IBM Plex Sans" pitchFamily="34" charset="0"/>
                <a:ea typeface="IBM Plex Sans" pitchFamily="34" charset="-122"/>
                <a:cs typeface="IBM Plex Sans" pitchFamily="34" charset="-120"/>
              </a:rPr>
              <a:t>LIMITS AND LEAKAGE CONTROL</a:t>
            </a:r>
            <a:endParaRPr lang="en-US" sz="1200" dirty="0"/>
          </a:p>
        </p:txBody>
      </p:sp>
      <p:sp>
        <p:nvSpPr>
          <p:cNvPr id="3" name="Text 1"/>
          <p:cNvSpPr>
            <a:spLocks noGrp="1"/>
          </p:cNvSpPr>
          <p:nvPr>
            <p:ph type="title"/>
          </p:nvPr>
        </p:nvSpPr>
        <p:spPr>
          <a:xfrm>
            <a:off x="812780" y="122932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0" i="0" dirty="0">
                <a:solidFill>
                  <a:srgbClr val="14213D"/>
                </a:solidFill>
                <a:latin typeface="EB Garamond" pitchFamily="18" charset="0"/>
                <a:ea typeface="EB Garamond" pitchFamily="18" charset="-122"/>
                <a:cs typeface="EB Garamond" pitchFamily="18" charset="-120"/>
              </a:rPr>
              <a:t>What these results can and cannot tell us</a:t>
            </a:r>
            <a:endParaRPr lang="en-US" sz="3200" dirty="0"/>
          </a:p>
        </p:txBody>
      </p:sp>
      <p:sp>
        <p:nvSpPr>
          <p:cNvPr id="4" name="Shape 2"/>
          <p:cNvSpPr/>
          <p:nvPr/>
        </p:nvSpPr>
        <p:spPr>
          <a:xfrm>
            <a:off x="819130" y="1885876"/>
            <a:ext cx="5168900" cy="1866940"/>
          </a:xfrm>
          <a:prstGeom prst="roundRect">
            <a:avLst>
              <a:gd name="adj" fmla="val 5102"/>
            </a:avLst>
          </a:prstGeom>
          <a:solidFill>
            <a:srgbClr val="FFFEFA"/>
          </a:solidFill>
          <a:ln w="12700">
            <a:solidFill>
              <a:srgbClr val="D9D4C7"/>
            </a:solidFill>
            <a:prstDash val="solid"/>
          </a:ln>
        </p:spPr>
        <p:txBody>
          <a:bodyPr/>
          <a:lstStyle/>
          <a:p>
            <a:endParaRPr lang="en-US"/>
          </a:p>
        </p:txBody>
      </p:sp>
      <p:sp>
        <p:nvSpPr>
          <p:cNvPr id="5" name="Text 3"/>
          <p:cNvSpPr/>
          <p:nvPr/>
        </p:nvSpPr>
        <p:spPr>
          <a:xfrm>
            <a:off x="1078171" y="2119561"/>
            <a:ext cx="479034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84B0E"/>
                </a:solidFill>
                <a:latin typeface="IBM Plex Sans" pitchFamily="34" charset="0"/>
                <a:ea typeface="IBM Plex Sans" pitchFamily="34" charset="-122"/>
                <a:cs typeface="IBM Plex Sans" pitchFamily="34" charset="-120"/>
              </a:rPr>
              <a:t>Tuned on validation only</a:t>
            </a:r>
            <a:endParaRPr lang="en-US" sz="1800" dirty="0"/>
          </a:p>
        </p:txBody>
      </p:sp>
      <p:sp>
        <p:nvSpPr>
          <p:cNvPr id="6" name="Text 4"/>
          <p:cNvSpPr/>
          <p:nvPr/>
        </p:nvSpPr>
        <p:spPr>
          <a:xfrm>
            <a:off x="1078171" y="2470076"/>
            <a:ext cx="4790344"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Hotspot analysis uses the validation split. The test set stays untouched until the protocol is fixed.</a:t>
            </a:r>
            <a:endParaRPr lang="en-US" sz="1400" dirty="0"/>
          </a:p>
        </p:txBody>
      </p:sp>
      <p:sp>
        <p:nvSpPr>
          <p:cNvPr id="7" name="Shape 5"/>
          <p:cNvSpPr/>
          <p:nvPr/>
        </p:nvSpPr>
        <p:spPr>
          <a:xfrm>
            <a:off x="6203910" y="1885876"/>
            <a:ext cx="5168960" cy="1866940"/>
          </a:xfrm>
          <a:prstGeom prst="roundRect">
            <a:avLst>
              <a:gd name="adj" fmla="val 5102"/>
            </a:avLst>
          </a:prstGeom>
          <a:solidFill>
            <a:srgbClr val="FFFEFA"/>
          </a:solidFill>
          <a:ln w="12700">
            <a:solidFill>
              <a:srgbClr val="D9D4C7"/>
            </a:solidFill>
            <a:prstDash val="solid"/>
          </a:ln>
        </p:spPr>
        <p:txBody>
          <a:bodyPr/>
          <a:lstStyle/>
          <a:p>
            <a:endParaRPr lang="en-US"/>
          </a:p>
        </p:txBody>
      </p:sp>
      <p:sp>
        <p:nvSpPr>
          <p:cNvPr id="8" name="Text 6"/>
          <p:cNvSpPr/>
          <p:nvPr/>
        </p:nvSpPr>
        <p:spPr>
          <a:xfrm>
            <a:off x="6462951" y="2119561"/>
            <a:ext cx="479040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84B0E"/>
                </a:solidFill>
                <a:latin typeface="IBM Plex Sans" pitchFamily="34" charset="0"/>
                <a:ea typeface="IBM Plex Sans" pitchFamily="34" charset="-122"/>
                <a:cs typeface="IBM Plex Sans" pitchFamily="34" charset="-120"/>
              </a:rPr>
              <a:t>One grid analysed</a:t>
            </a:r>
            <a:endParaRPr lang="en-US" sz="1800" dirty="0"/>
          </a:p>
        </p:txBody>
      </p:sp>
      <p:sp>
        <p:nvSpPr>
          <p:cNvPr id="9" name="Text 7"/>
          <p:cNvSpPr/>
          <p:nvPr/>
        </p:nvSpPr>
        <p:spPr>
          <a:xfrm>
            <a:off x="6462951" y="2470076"/>
            <a:ext cx="4790405" cy="7721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Only the 15×15 SOM was analysed in this check. The grid comparison could not separate the three sizes, so 15×15 was chosen as a middle option.</a:t>
            </a:r>
            <a:endParaRPr lang="en-US" sz="1400" dirty="0"/>
          </a:p>
        </p:txBody>
      </p:sp>
      <p:sp>
        <p:nvSpPr>
          <p:cNvPr id="10" name="Shape 8"/>
          <p:cNvSpPr/>
          <p:nvPr/>
        </p:nvSpPr>
        <p:spPr>
          <a:xfrm>
            <a:off x="819130" y="3968700"/>
            <a:ext cx="5168900" cy="1866999"/>
          </a:xfrm>
          <a:prstGeom prst="roundRect">
            <a:avLst>
              <a:gd name="adj" fmla="val 5102"/>
            </a:avLst>
          </a:prstGeom>
          <a:solidFill>
            <a:srgbClr val="FFFEFA"/>
          </a:solidFill>
          <a:ln w="12700">
            <a:solidFill>
              <a:srgbClr val="D9D4C7"/>
            </a:solidFill>
            <a:prstDash val="solid"/>
          </a:ln>
        </p:spPr>
        <p:txBody>
          <a:bodyPr/>
          <a:lstStyle/>
          <a:p>
            <a:endParaRPr lang="en-US"/>
          </a:p>
        </p:txBody>
      </p:sp>
      <p:sp>
        <p:nvSpPr>
          <p:cNvPr id="11" name="Text 9"/>
          <p:cNvSpPr/>
          <p:nvPr/>
        </p:nvSpPr>
        <p:spPr>
          <a:xfrm>
            <a:off x="1078171" y="4202373"/>
            <a:ext cx="479034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84B0E"/>
                </a:solidFill>
                <a:latin typeface="IBM Plex Sans" pitchFamily="34" charset="0"/>
                <a:ea typeface="IBM Plex Sans" pitchFamily="34" charset="-122"/>
                <a:cs typeface="IBM Plex Sans" pitchFamily="34" charset="-120"/>
              </a:rPr>
              <a:t>Few errors</a:t>
            </a:r>
            <a:endParaRPr lang="en-US" sz="1800" dirty="0"/>
          </a:p>
        </p:txBody>
      </p:sp>
      <p:sp>
        <p:nvSpPr>
          <p:cNvPr id="12" name="Text 10"/>
          <p:cNvSpPr/>
          <p:nvPr/>
        </p:nvSpPr>
        <p:spPr>
          <a:xfrm>
            <a:off x="1078171" y="4552900"/>
            <a:ext cx="4790344" cy="7721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There are only 92 validation mistakes, so the intervals are wide. MNIST is also easy, so Fashion-MNIST and CIFAR-10 are needed before general claims.</a:t>
            </a:r>
            <a:endParaRPr lang="en-US" sz="1400" dirty="0"/>
          </a:p>
        </p:txBody>
      </p:sp>
      <p:sp>
        <p:nvSpPr>
          <p:cNvPr id="13" name="Shape 11"/>
          <p:cNvSpPr/>
          <p:nvPr/>
        </p:nvSpPr>
        <p:spPr>
          <a:xfrm>
            <a:off x="6203910" y="3968700"/>
            <a:ext cx="5168960" cy="1866999"/>
          </a:xfrm>
          <a:prstGeom prst="roundRect">
            <a:avLst>
              <a:gd name="adj" fmla="val 5102"/>
            </a:avLst>
          </a:prstGeom>
          <a:solidFill>
            <a:srgbClr val="FFFEFA"/>
          </a:solidFill>
          <a:ln w="12700">
            <a:solidFill>
              <a:srgbClr val="D9D4C7"/>
            </a:solidFill>
            <a:prstDash val="solid"/>
          </a:ln>
        </p:spPr>
        <p:txBody>
          <a:bodyPr/>
          <a:lstStyle/>
          <a:p>
            <a:endParaRPr lang="en-US"/>
          </a:p>
        </p:txBody>
      </p:sp>
      <p:sp>
        <p:nvSpPr>
          <p:cNvPr id="14" name="Text 12"/>
          <p:cNvSpPr/>
          <p:nvPr/>
        </p:nvSpPr>
        <p:spPr>
          <a:xfrm>
            <a:off x="6462951" y="4202373"/>
            <a:ext cx="479040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84B0E"/>
                </a:solidFill>
                <a:latin typeface="IBM Plex Sans" pitchFamily="34" charset="0"/>
                <a:ea typeface="IBM Plex Sans" pitchFamily="34" charset="-122"/>
                <a:cs typeface="IBM Plex Sans" pitchFamily="34" charset="-120"/>
              </a:rPr>
              <a:t>Shared validation data</a:t>
            </a:r>
            <a:endParaRPr lang="en-US" sz="1800" dirty="0"/>
          </a:p>
        </p:txBody>
      </p:sp>
      <p:sp>
        <p:nvSpPr>
          <p:cNvPr id="15" name="Text 13"/>
          <p:cNvSpPr/>
          <p:nvPr/>
        </p:nvSpPr>
        <p:spPr>
          <a:xfrm>
            <a:off x="6462951" y="4552900"/>
            <a:ext cx="4790405" cy="7721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Validation was also used to pick the CNN checkpoint, which can make validation results look a little better than they would on new data.</a:t>
            </a:r>
            <a:endParaRPr lang="en-US" sz="1400" dirty="0"/>
          </a:p>
        </p:txBody>
      </p:sp>
    </p:spTree>
  </p:cSld>
  <p:clrMapOvr>
    <a:masterClrMapping/>
  </p:clrMapOvr>
</p:sld>
</file>

<file path=ppt/theme/theme1.xml><?xml version="1.0" encoding="utf-8"?>
<a:theme xmlns:a="http://schemas.openxmlformats.org/drawingml/2006/main" name="Capstone Preliminary Presentation">
  <a:themeElements>
    <a:clrScheme name="Capstone Preliminary Presentation">
      <a:dk1>
        <a:srgbClr val="14213D"/>
      </a:dk1>
      <a:lt1>
        <a:srgbClr val="F7F5F0"/>
      </a:lt1>
      <a:dk2>
        <a:srgbClr val="4D566A"/>
      </a:dk2>
      <a:lt2>
        <a:srgbClr val="E0E0DE"/>
      </a:lt2>
      <a:accent1>
        <a:srgbClr val="A84B0E"/>
      </a:accent1>
      <a:accent2>
        <a:srgbClr val="E07A1F"/>
      </a:accent2>
      <a:accent3>
        <a:srgbClr val="F2A65A"/>
      </a:accent3>
      <a:accent4>
        <a:srgbClr val="2F6FB0"/>
      </a:accent4>
      <a:accent5>
        <a:srgbClr val="8FB4DE"/>
      </a:accent5>
      <a:accent6>
        <a:srgbClr val="4A5568"/>
      </a:accent6>
      <a:hlink>
        <a:srgbClr val="0563C1"/>
      </a:hlink>
      <a:folHlink>
        <a:srgbClr val="954F72"/>
      </a:folHlink>
    </a:clrScheme>
    <a:fontScheme name="Capstone Preliminary Presentation">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1983</Words>
  <Application>Microsoft Office PowerPoint</Application>
  <PresentationFormat>Widescreen</PresentationFormat>
  <Paragraphs>225</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EB Garamond</vt:lpstr>
      <vt:lpstr>IBM Plex Sans</vt:lpstr>
      <vt:lpstr>Capstone Preliminary Presentation</vt:lpstr>
      <vt:lpstr>Using a Self-Organizing Map to Understand MNIST CNN Errors</vt:lpstr>
      <vt:lpstr>Where does the CNN go wrong, and can a map of its embeddings show us why?</vt:lpstr>
      <vt:lpstr>Four phases, two completed so far</vt:lpstr>
      <vt:lpstr>CNN alone against the SOM-assisted CNN</vt:lpstr>
      <vt:lpstr>LeNet-5 reaches 99.18% test accuracy</vt:lpstr>
      <vt:lpstr>Training converges and validation accuracy levels off</vt:lpstr>
      <vt:lpstr>What the baseline CNN gets wrong</vt:lpstr>
      <vt:lpstr>Three grid sizes, one chosen for the main analysis</vt:lpstr>
      <vt:lpstr>A finer grid does not clearly predict mistakes better</vt:lpstr>
      <vt:lpstr>The map’s cells follow the digit classes</vt:lpstr>
      <vt:lpstr>The CNN’s mistakes gather in a few hotspot cells</vt:lpstr>
      <vt:lpstr>The pattern holds on all three grid sizes</vt:lpstr>
      <vt:lpstr>What the hotspot mistakes look like</vt:lpstr>
      <vt:lpstr>The SOM concentrates errors more than k-means</vt:lpstr>
      <vt:lpstr>Predicting CNN mistakes: AUROC by method</vt:lpstr>
      <vt:lpstr>Novelty detection</vt:lpstr>
      <vt:lpstr>Guided retraining</vt:lpstr>
      <vt:lpstr>CF1 against CF2 on the same test images</vt:lpstr>
      <vt:lpstr>What these results can and cannot tell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Preliminary Presentation</dc:title>
  <dc:subject/>
  <dc:creator/>
  <cp:lastModifiedBy>Khan, Fyrooz</cp:lastModifiedBy>
  <cp:revision>2</cp:revision>
  <dcterms:created xsi:type="dcterms:W3CDTF">2026-10-18T03:02:35Z</dcterms:created>
  <dcterms:modified xsi:type="dcterms:W3CDTF">2026-10-18T03:10:19Z</dcterms:modified>
</cp:coreProperties>
</file>