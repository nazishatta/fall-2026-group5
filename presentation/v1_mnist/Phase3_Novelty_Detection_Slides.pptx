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65" ns1:id="rId2"/>
    <ns0:sldId id="256" ns1:id="rId3"/>
    <ns0:sldId id="257" ns1:id="rId4"/>
    <ns0:sldId id="258" ns1:id="rId5"/>
    <ns0:sldId id="259" ns1:id="rId6"/>
    <ns0:sldId id="260" ns1:id="rId7"/>
    <ns0:sldId id="266" ns1:id="rId8"/>
    <ns0:sldId id="261" ns1:id="rId9"/>
    <ns0:sldId id="267" ns1:id="rId10"/>
    <ns0:sldId id="262" ns1:id="rId11"/>
    <ns0:sldId id="263" ns1:id="rId12"/>
    <ns0:sldId id="268" ns1:id="rId13"/>
  </ns0:sldIdLst>
  <ns0:sldSz cx="12192000" cy="6858000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160">
          <ns3:clr>
            <ns2:srgbClr val="A4A3A4"/>
          </ns3:clr>
        </ns3:guide>
        <ns3:guide id="2" pos="2880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/>
    <p:restoredTop sz="87577"/>
  </p:normalViewPr>
  <p:slideViewPr>
    <p:cSldViewPr snapToGrid="0" snapToObjects="1">
      <p:cViewPr varScale="1">
        <p:scale>
          <a:sx n="97" d="100"/>
          <a:sy n="97" d="100"/>
        </p:scale>
        <p:origin x="7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tableStyles" Target="tableStyle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theme" Target="theme/theme1.xml" /><ns0:Relationship Id="rId2" Type="http://schemas.openxmlformats.org/officeDocument/2006/relationships/slide" Target="slides/slide1.xml" /><ns0:Relationship Id="rId16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presProps" Target="presProps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15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image2.png" /><ns0:Relationship Id="rId1" Type="http://schemas.openxmlformats.org/officeDocument/2006/relationships/slideLayout" Target="../slideLayouts/slideLayout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Layout" Target="../slideLayouts/slideLayout7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ase 3_ Novelty Detection 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THE MAIN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What is a novel image?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Can we spot street-number photos that look different from MNIST handwriting?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1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5166360" cy="329184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1928" y="1938528"/>
            <a:ext cx="5166360" cy="3291840"/>
          </a:xfrm>
          <a:prstGeom prst="roundRect">
            <a:avLst>
              <a:gd name="adj" fmla="val 14000"/>
            </a:avLst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76272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58F6B"/>
                </a:solidFill>
                <a:latin typeface="Aptos"/>
              </a:defRPr>
            </a:pPr>
            <a:r>
              <a:t>FAMILIAR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5608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5608" y="2852928"/>
            <a:ext cx="8778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700" b="1">
                <a:solidFill>
                  <a:srgbClr val="1429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87752" y="2852928"/>
            <a:ext cx="8778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700" b="1">
                <a:solidFill>
                  <a:srgbClr val="14294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852928"/>
            <a:ext cx="8778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700" b="1">
                <a:solidFill>
                  <a:srgbClr val="1429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15968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202F44"/>
                </a:solidFill>
                <a:latin typeface="Aptos"/>
              </a:defRPr>
            </a:pPr>
            <a:r>
              <a:t>MNIST handwritten digits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176272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D58D2C"/>
                </a:solidFill>
                <a:latin typeface="Aptos"/>
              </a:defRPr>
            </a:pPr>
            <a:r>
              <a:t>UNFAMILIAR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2889504"/>
            <a:ext cx="877824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4294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2889504"/>
            <a:ext cx="877824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4294F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2834640"/>
            <a:ext cx="877824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9448" y="2889504"/>
            <a:ext cx="877824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4294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431596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202F44"/>
                </a:solidFill>
                <a:latin typeface="Aptos"/>
              </a:defRPr>
            </a:pPr>
            <a:r>
              <a:t>SVHN street-number photos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05272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294F"/>
                </a:solidFill>
                <a:latin typeface="Aptos"/>
              </a:defRPr>
            </a:pPr>
            <a:r>
              <a:t>Our question: should the system flag the image for review?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Our Phase 3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We reuse the trained CNN and the 15×15 SOM from earlier phases.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2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286000"/>
            <a:ext cx="2267712" cy="201168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569464"/>
            <a:ext cx="20848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4294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18688"/>
            <a:ext cx="2084831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5B6A7C"/>
                </a:solidFill>
                <a:latin typeface="Aptos"/>
              </a:defRPr>
            </a:pPr>
            <a:r>
              <a:t>28×28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980944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286000"/>
            <a:ext cx="2267712" cy="201168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569464"/>
            <a:ext cx="20848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4294F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18688"/>
            <a:ext cx="2084831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5B6A7C"/>
                </a:solidFill>
                <a:latin typeface="Aptos"/>
              </a:defRPr>
            </a:pPr>
            <a:r>
              <a:t>84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6" y="2980944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4808" y="2286000"/>
            <a:ext cx="2267712" cy="201168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569464"/>
            <a:ext cx="20848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4294F"/>
                </a:solidFill>
                <a:latin typeface="Aptos"/>
              </a:defRPr>
            </a:pPr>
            <a: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218688"/>
            <a:ext cx="2084831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5B6A7C"/>
                </a:solidFill>
                <a:latin typeface="Aptos"/>
              </a:defRPr>
            </a:pPr>
            <a:r>
              <a:t>closest neuron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980944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17736" y="2286000"/>
            <a:ext cx="2267712" cy="201168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9176" y="2569464"/>
            <a:ext cx="20848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4294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3218688"/>
            <a:ext cx="2084831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5B6A7C"/>
                </a:solidFill>
                <a:latin typeface="Aptos"/>
              </a:defRPr>
            </a:pPr>
            <a:r>
              <a:t>how unusual?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4892040"/>
            <a:ext cx="7159752" cy="658368"/>
          </a:xfrm>
          <a:prstGeom prst="roundRect">
            <a:avLst>
              <a:gd name="adj" fmla="val 14000"/>
            </a:avLst>
          </a:prstGeom>
          <a:solidFill>
            <a:srgbClr val="EC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87752" y="4983479"/>
            <a:ext cx="701344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58F6B"/>
                </a:solidFill>
                <a:latin typeface="Aptos"/>
              </a:defRPr>
            </a:pPr>
            <a:r>
              <a:t>Trained CNN + trained SOM stay fixed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SOM and BMU: a simple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The SOM is a map of 225 neurons (15 × 15).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3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48156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90472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732788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75104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17420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9736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02052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44368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86684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29000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71316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13632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55948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98264" y="182880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5840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248156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490472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732788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75104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217420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459736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702052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44368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186684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29000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71316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913632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55948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98264" y="207111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05840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248156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490472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732788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975104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217420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459736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702052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944368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186684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429000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671316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913632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155948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398264" y="231343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05840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248156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490472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732788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975104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217420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459736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702052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2944368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186684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429000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671316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3913632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155948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398264" y="255574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05840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248156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490472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1732788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975104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217420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459736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702052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944368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3186684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429000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671316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913632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4155948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398264" y="279806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05840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248156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490472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732788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975104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2217420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459736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702052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944368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186684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3429000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671316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913632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155948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4398264" y="304038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1005840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1248156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1490472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732788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975104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2217420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2459736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2702052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2944368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2E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3186684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3429000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3671316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3913632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4155948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4398264" y="328269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005840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248156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490472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1732788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1975104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2217420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2459736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2702052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2944368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3186684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3429000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3671316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3913632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4155948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4398264" y="352501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1005840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1248156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1490472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1732788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1975104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2217420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2459736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2702052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2944368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A7C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3186684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3429000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3671316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3913632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4155948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4398264" y="376732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1005840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1248156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1490472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1732788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975104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2217420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2459736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2702052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2944368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3186684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3429000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3671316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3913632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4155948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4398264" y="400964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1005840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1248156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490472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732788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975104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2217420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2459736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2702052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2944368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3186684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3429000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3671316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3913632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4155948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4398264" y="4251960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1005840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1248156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1490472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1732788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1975104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2217420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2459736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unded Rectangle 180"/>
          <p:cNvSpPr/>
          <p:nvPr/>
        </p:nvSpPr>
        <p:spPr>
          <a:xfrm>
            <a:off x="2702052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2944368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3186684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429000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3671316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3913632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4155948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4398264" y="4494276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1005840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ounded Rectangle 189"/>
          <p:cNvSpPr/>
          <p:nvPr/>
        </p:nvSpPr>
        <p:spPr>
          <a:xfrm>
            <a:off x="1248156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1490472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1732788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2"/>
          <p:cNvSpPr/>
          <p:nvPr/>
        </p:nvSpPr>
        <p:spPr>
          <a:xfrm>
            <a:off x="1975104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2217420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2459736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ounded Rectangle 195"/>
          <p:cNvSpPr/>
          <p:nvPr/>
        </p:nvSpPr>
        <p:spPr>
          <a:xfrm>
            <a:off x="2702052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ounded Rectangle 196"/>
          <p:cNvSpPr/>
          <p:nvPr/>
        </p:nvSpPr>
        <p:spPr>
          <a:xfrm>
            <a:off x="2944368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/>
          <p:cNvSpPr/>
          <p:nvPr/>
        </p:nvSpPr>
        <p:spPr>
          <a:xfrm>
            <a:off x="3186684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ounded Rectangle 198"/>
          <p:cNvSpPr/>
          <p:nvPr/>
        </p:nvSpPr>
        <p:spPr>
          <a:xfrm>
            <a:off x="3429000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ounded Rectangle 199"/>
          <p:cNvSpPr/>
          <p:nvPr/>
        </p:nvSpPr>
        <p:spPr>
          <a:xfrm>
            <a:off x="3671316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3913632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ounded Rectangle 201"/>
          <p:cNvSpPr/>
          <p:nvPr/>
        </p:nvSpPr>
        <p:spPr>
          <a:xfrm>
            <a:off x="4155948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4398264" y="4736592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ounded Rectangle 203"/>
          <p:cNvSpPr/>
          <p:nvPr/>
        </p:nvSpPr>
        <p:spPr>
          <a:xfrm>
            <a:off x="1005840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ounded Rectangle 204"/>
          <p:cNvSpPr/>
          <p:nvPr/>
        </p:nvSpPr>
        <p:spPr>
          <a:xfrm>
            <a:off x="1248156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205"/>
          <p:cNvSpPr/>
          <p:nvPr/>
        </p:nvSpPr>
        <p:spPr>
          <a:xfrm>
            <a:off x="1490472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ounded Rectangle 206"/>
          <p:cNvSpPr/>
          <p:nvPr/>
        </p:nvSpPr>
        <p:spPr>
          <a:xfrm>
            <a:off x="1732788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ounded Rectangle 207"/>
          <p:cNvSpPr/>
          <p:nvPr/>
        </p:nvSpPr>
        <p:spPr>
          <a:xfrm>
            <a:off x="1975104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ounded Rectangle 208"/>
          <p:cNvSpPr/>
          <p:nvPr/>
        </p:nvSpPr>
        <p:spPr>
          <a:xfrm>
            <a:off x="2217420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2459736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ounded Rectangle 210"/>
          <p:cNvSpPr/>
          <p:nvPr/>
        </p:nvSpPr>
        <p:spPr>
          <a:xfrm>
            <a:off x="2702052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2944368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ounded Rectangle 212"/>
          <p:cNvSpPr/>
          <p:nvPr/>
        </p:nvSpPr>
        <p:spPr>
          <a:xfrm>
            <a:off x="3186684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ounded Rectangle 213"/>
          <p:cNvSpPr/>
          <p:nvPr/>
        </p:nvSpPr>
        <p:spPr>
          <a:xfrm>
            <a:off x="3429000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ounded Rectangle 214"/>
          <p:cNvSpPr/>
          <p:nvPr/>
        </p:nvSpPr>
        <p:spPr>
          <a:xfrm>
            <a:off x="3671316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ounded Rectangle 215"/>
          <p:cNvSpPr/>
          <p:nvPr/>
        </p:nvSpPr>
        <p:spPr>
          <a:xfrm>
            <a:off x="3913632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4155948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4398264" y="4978908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ounded Rectangle 218"/>
          <p:cNvSpPr/>
          <p:nvPr/>
        </p:nvSpPr>
        <p:spPr>
          <a:xfrm>
            <a:off x="1005840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ounded Rectangle 219"/>
          <p:cNvSpPr/>
          <p:nvPr/>
        </p:nvSpPr>
        <p:spPr>
          <a:xfrm>
            <a:off x="1248156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ounded Rectangle 220"/>
          <p:cNvSpPr/>
          <p:nvPr/>
        </p:nvSpPr>
        <p:spPr>
          <a:xfrm>
            <a:off x="1490472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ounded Rectangle 221"/>
          <p:cNvSpPr/>
          <p:nvPr/>
        </p:nvSpPr>
        <p:spPr>
          <a:xfrm>
            <a:off x="1732788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ounded Rectangle 222"/>
          <p:cNvSpPr/>
          <p:nvPr/>
        </p:nvSpPr>
        <p:spPr>
          <a:xfrm>
            <a:off x="1975104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/>
          <p:cNvSpPr/>
          <p:nvPr/>
        </p:nvSpPr>
        <p:spPr>
          <a:xfrm>
            <a:off x="2217420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ounded Rectangle 224"/>
          <p:cNvSpPr/>
          <p:nvPr/>
        </p:nvSpPr>
        <p:spPr>
          <a:xfrm>
            <a:off x="2459736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ounded Rectangle 225"/>
          <p:cNvSpPr/>
          <p:nvPr/>
        </p:nvSpPr>
        <p:spPr>
          <a:xfrm>
            <a:off x="2702052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ounded Rectangle 226"/>
          <p:cNvSpPr/>
          <p:nvPr/>
        </p:nvSpPr>
        <p:spPr>
          <a:xfrm>
            <a:off x="2944368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ounded Rectangle 227"/>
          <p:cNvSpPr/>
          <p:nvPr/>
        </p:nvSpPr>
        <p:spPr>
          <a:xfrm>
            <a:off x="3186684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ounded Rectangle 228"/>
          <p:cNvSpPr/>
          <p:nvPr/>
        </p:nvSpPr>
        <p:spPr>
          <a:xfrm>
            <a:off x="3429000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ounded Rectangle 229"/>
          <p:cNvSpPr/>
          <p:nvPr/>
        </p:nvSpPr>
        <p:spPr>
          <a:xfrm>
            <a:off x="3671316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ounded Rectangle 230"/>
          <p:cNvSpPr/>
          <p:nvPr/>
        </p:nvSpPr>
        <p:spPr>
          <a:xfrm>
            <a:off x="3913632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ounded Rectangle 231"/>
          <p:cNvSpPr/>
          <p:nvPr/>
        </p:nvSpPr>
        <p:spPr>
          <a:xfrm>
            <a:off x="4155948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ounded Rectangle 232"/>
          <p:cNvSpPr/>
          <p:nvPr/>
        </p:nvSpPr>
        <p:spPr>
          <a:xfrm>
            <a:off x="4398264" y="5221224"/>
            <a:ext cx="187452" cy="187452"/>
          </a:xfrm>
          <a:prstGeom prst="roundRect">
            <a:avLst>
              <a:gd name="adj" fmla="val 14000"/>
            </a:avLst>
          </a:prstGeom>
          <a:solidFill>
            <a:srgbClr val="DF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4800600" y="3154680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2E6EB9"/>
                </a:solidFill>
                <a:latin typeface="Aptos"/>
              </a:defRPr>
            </a:pPr>
            <a:r>
              <a:t>← BMU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675120" y="2130552"/>
            <a:ext cx="4709160" cy="2615184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6976872" y="2487168"/>
            <a:ext cx="4178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4294F"/>
                </a:solidFill>
                <a:latin typeface="Aptos"/>
              </a:defRPr>
            </a:pPr>
            <a:r>
              <a:t>BMU = Best Matching Unit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949440" y="3218688"/>
            <a:ext cx="4206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0">
                <a:solidFill>
                  <a:srgbClr val="202F44"/>
                </a:solidFill>
                <a:latin typeface="Aptos"/>
              </a:defRPr>
            </a:pPr>
            <a:r>
              <a:t>The neuron most similar</a:t>
            </a:r>
            <a:br/>
            <a:r>
              <a:t>to the image’s 84 features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011680" y="5678424"/>
            <a:ext cx="8321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02F44"/>
                </a:solidFill>
                <a:latin typeface="Aptos"/>
              </a:defRPr>
            </a:pPr>
            <a:r>
              <a:t>A BMU is NOT a digit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Quantization Error (QE)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QE measures the distance from an image to its closest neuron (BMU).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4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5120640" cy="3182112"/>
          </a:xfrm>
          <a:prstGeom prst="roundRect">
            <a:avLst>
              <a:gd name="adj" fmla="val 14000"/>
            </a:avLst>
          </a:prstGeom>
          <a:solidFill>
            <a:srgbClr val="EC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0216" y="1975104"/>
            <a:ext cx="5120640" cy="3182112"/>
          </a:xfrm>
          <a:prstGeom prst="roundRect">
            <a:avLst>
              <a:gd name="adj" fmla="val 14000"/>
            </a:avLst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313432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58F6B"/>
                </a:solidFill>
                <a:latin typeface="Aptos"/>
              </a:defRPr>
            </a:pPr>
            <a:r>
              <a:t>SMALL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871216"/>
            <a:ext cx="365760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258F6B"/>
                </a:solidFill>
                <a:latin typeface="Aptos"/>
              </a:defRPr>
            </a:pPr>
            <a:r>
              <a:t>●  ↔ 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86784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202F44"/>
                </a:solidFill>
                <a:latin typeface="Aptos"/>
              </a:defRPr>
            </a:pPr>
            <a:r>
              <a:t>Looks more familiar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313432"/>
            <a:ext cx="4617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D58D2C"/>
                </a:solidFill>
                <a:latin typeface="Aptos"/>
              </a:defRPr>
            </a:pPr>
            <a:r>
              <a:t>LARGE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71216"/>
            <a:ext cx="4517136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D58D2C"/>
                </a:solidFill>
                <a:latin typeface="Aptos"/>
              </a:defRPr>
            </a:pPr>
            <a:r>
              <a:t>●   ←────→  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986784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202F44"/>
                </a:solidFill>
                <a:latin typeface="Aptos"/>
              </a:defRPr>
            </a:pPr>
            <a:r>
              <a:t>May be unfamiliar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50992"/>
            <a:ext cx="10287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4294F"/>
                </a:solidFill>
                <a:latin typeface="Aptos"/>
              </a:defRPr>
            </a:pPr>
            <a:r>
              <a:t>Higher QE = more unusual under this distance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How do we flag an image?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We choose the cutoff from MNIST training distances — not from the final test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5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65376"/>
            <a:ext cx="10424160" cy="105156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12264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4294F"/>
                </a:solidFill>
                <a:latin typeface="Aptos"/>
              </a:defRPr>
            </a:pPr>
            <a:r>
              <a:t>Training QE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75688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121408"/>
            <a:ext cx="2514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2E6EB9"/>
                </a:solidFill>
                <a:latin typeface="Aptos"/>
              </a:defRPr>
            </a:pPr>
            <a:r>
              <a:t>95th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2075688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21408"/>
            <a:ext cx="243230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4294F"/>
                </a:solidFill>
                <a:latin typeface="Aptos"/>
              </a:defRPr>
            </a:pPr>
            <a:r>
              <a:t>Fixed cutoff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703320"/>
            <a:ext cx="9738360" cy="201168"/>
          </a:xfrm>
          <a:prstGeom prst="roundRect">
            <a:avLst>
              <a:gd name="adj" fmla="val 14000"/>
            </a:avLst>
          </a:prstGeom>
          <a:solidFill>
            <a:srgbClr val="DB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34440" y="3703320"/>
            <a:ext cx="7744968" cy="201168"/>
          </a:xfrm>
          <a:prstGeom prst="roundRect">
            <a:avLst>
              <a:gd name="adj" fmla="val 14000"/>
            </a:avLst>
          </a:prstGeom>
          <a:solidFill>
            <a:srgbClr val="2E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97112" y="3410712"/>
            <a:ext cx="32004" cy="914400"/>
          </a:xfrm>
          <a:prstGeom prst="rect">
            <a:avLst/>
          </a:prstGeom>
          <a:solidFill>
            <a:srgbClr val="D58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41513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258F6B"/>
                </a:solidFill>
                <a:latin typeface="Aptos"/>
              </a:defRPr>
            </a:pPr>
            <a:r>
              <a:t>Usually familiar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151376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D58D2C"/>
                </a:solidFill>
                <a:latin typeface="Aptos"/>
              </a:defRPr>
            </a:pPr>
            <a:r>
              <a:t>Flag for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349240"/>
            <a:ext cx="8138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4294F"/>
                </a:solidFill>
                <a:latin typeface="Aptos"/>
              </a:defRPr>
            </a:pPr>
            <a:r>
              <a:t>Historical threshold ≈ 1.569  ·  Rule: QE &gt; cutoff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70BC"/>
                </a:solidFill>
                <a:latin typeface="Aptos"/>
              </a:defRPr>
            </a:pPr>
            <a:r>
              <a:t>PHASE 3  •  NOVELTY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55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84C"/>
                </a:solidFill>
                <a:latin typeface="Aptos Display"/>
              </a:defRPr>
            </a:pPr>
            <a:r>
              <a:t>QE: Where do we flag unfamiliar images?</a:t>
            </a:r>
          </a:p>
        </p:txBody>
      </p:sp>
      <p:pic>
        <p:nvPicPr>
          <p:cNvPr id="4" name="Picture 3" descr="qe_distribution_embe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307592"/>
            <a:ext cx="7098924" cy="45354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" y="5916168"/>
            <a:ext cx="10972800" cy="548640"/>
          </a:xfrm>
          <a:prstGeom prst="round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5998464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284C"/>
                </a:solidFill>
                <a:latin typeface="Aptos"/>
              </a:defRPr>
            </a:pPr>
            <a:r>
              <a:t>The dashed line is our MNIST-training cutoff (QE ≈ 1.569); images to its right are flagged as unfamiliar.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C5E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U-Matrix: look at neighboring neurons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QE compares an image with its BMU; U-Matrix compares neurons with their neighbors.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6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249424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10512" y="2249424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9463" y="2249424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28415" y="2249424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303580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10512" y="303580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2E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569463" y="303580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28415" y="303580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3822191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810512" y="3822191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69463" y="3822191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28415" y="3822191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AFC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86460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4294F"/>
                </a:solidFill>
                <a:latin typeface="Aptos"/>
              </a:defRPr>
            </a:pPr>
            <a:r>
              <a:t>Near neighbors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072384"/>
            <a:ext cx="640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2E6EB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25312" y="2112264"/>
            <a:ext cx="5248656" cy="301752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2487168"/>
            <a:ext cx="4700016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58F6B"/>
                </a:solidFill>
                <a:latin typeface="Aptos"/>
              </a:defRPr>
            </a:pPr>
            <a:r>
              <a:t>Small neighbor distance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017520"/>
            <a:ext cx="4700016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0">
                <a:solidFill>
                  <a:srgbClr val="5B6A7C"/>
                </a:solidFill>
                <a:latin typeface="Aptos"/>
              </a:defRPr>
            </a:pPr>
            <a:r>
              <a:t>Similar region of the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685032"/>
            <a:ext cx="4700016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D58D2C"/>
                </a:solidFill>
                <a:latin typeface="Aptos"/>
              </a:defRPr>
            </a:pPr>
            <a:r>
              <a:t>Large neighbor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197096"/>
            <a:ext cx="4700016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0">
                <a:solidFill>
                  <a:srgbClr val="5B6A7C"/>
                </a:solidFill>
                <a:latin typeface="Aptos"/>
              </a:defRPr>
            </a:pPr>
            <a:r>
              <a:t>Boundary between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61441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294F"/>
                </a:solidFill>
                <a:latin typeface="Aptos"/>
              </a:defRPr>
            </a:pPr>
            <a:r>
              <a:rPr dirty="0"/>
              <a:t>U-Matrix is not the same as QE.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70BC"/>
                </a:solidFill>
                <a:latin typeface="Aptos"/>
              </a:defRPr>
            </a:pPr>
            <a:r>
              <a:t>PHASE 3  •  NOVELTY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55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84C"/>
                </a:solidFill>
                <a:latin typeface="Aptos Display"/>
              </a:defRPr>
            </a:pPr>
            <a:r>
              <a:rPr dirty="0"/>
              <a:t>U-Matrix: Differences between SOM neighbors</a:t>
            </a:r>
          </a:p>
        </p:txBody>
      </p:sp>
      <p:pic>
        <p:nvPicPr>
          <p:cNvPr id="4" name="Picture 3" descr="u_matrix_embe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676" y="1335024"/>
            <a:ext cx="4911476" cy="45354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" y="5916168"/>
            <a:ext cx="10972800" cy="548640"/>
          </a:xfrm>
          <a:prstGeom prst="round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5998464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284C"/>
                </a:solidFill>
                <a:latin typeface="Aptos"/>
              </a:defRPr>
            </a:pPr>
            <a:r>
              <a:t>Purple = similar neighbors; green/yellow = larger differences; white circles = top 10% of high-scoring neurons.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C5E77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0896F-CE7C-2854-4449-CADFFC791509}"/>
              </a:ext>
            </a:extLst>
          </p:cNvPr>
          <p:cNvSpPr txBox="1"/>
          <p:nvPr/>
        </p:nvSpPr>
        <p:spPr>
          <a:xfrm>
            <a:off x="688848" y="1720840"/>
            <a:ext cx="50261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dirty="0"/>
          </a:p>
          <a:p>
            <a:pPr lvl="0"/>
            <a:r>
              <a:rPr lang="en-US" dirty="0"/>
              <a:t>🟣 Purple: A neuron is very similar to its neighboring neurons.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🟢 Green: A neuron is somewhat different from its neighboring neurons.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🟡 Yellow: A neuron is very different from its neighboring neurons.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⚪ White circle: This neuron belongs to the top 10% of neurons with the highest U-Matrix scores.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Our historical SVHN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SVHN contains house-number images that differ from MNIST handwriting.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7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56816"/>
            <a:ext cx="5166360" cy="153619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2E6EB9"/>
                </a:solidFill>
                <a:latin typeface="Aptos"/>
              </a:defRPr>
            </a:pPr>
            <a:r>
              <a:t>96.17%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7" y="2130552"/>
            <a:ext cx="2889504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4294F"/>
                </a:solidFill>
                <a:latin typeface="Aptos"/>
              </a:defRPr>
            </a:pPr>
            <a:r>
              <a:t>SVHN images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7" y="2651760"/>
            <a:ext cx="28895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5B6A7C"/>
                </a:solidFill>
                <a:latin typeface="Aptos"/>
              </a:defRPr>
            </a:pPr>
            <a:r>
              <a:t>at frozen QE cutoff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1956816"/>
            <a:ext cx="5166360" cy="153619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10312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2E6EB9"/>
                </a:solidFill>
                <a:latin typeface="Aptos"/>
              </a:defRPr>
            </a:pPr>
            <a:r>
              <a:t>5.13%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2130552"/>
            <a:ext cx="2889504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4294F"/>
                </a:solidFill>
                <a:latin typeface="Aptos"/>
              </a:defRPr>
            </a:pPr>
            <a:r>
              <a:t>MNIST validation flagged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582174"/>
            <a:ext cx="288950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B6A7C"/>
                </a:solidFill>
                <a:latin typeface="Aptos"/>
              </a:defRPr>
            </a:pPr>
            <a:r>
              <a:rPr lang="en-US" sz="1400" dirty="0">
                <a:solidFill>
                  <a:srgbClr val="5B6A7C"/>
                </a:solidFill>
                <a:latin typeface="Aptos"/>
              </a:rPr>
              <a:t>MNIST images were flagged by mistake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49808" y="3822191"/>
            <a:ext cx="5166360" cy="153619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968496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2E6EB9"/>
                </a:solidFill>
                <a:latin typeface="Aptos"/>
              </a:defRPr>
            </a:pPr>
            <a:r>
              <a:t>0.9811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7" y="3995928"/>
            <a:ext cx="2889504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4294F"/>
                </a:solidFill>
                <a:latin typeface="Aptos"/>
              </a:defRPr>
            </a:pPr>
            <a:r>
              <a:t>QE AUROC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7" y="4517136"/>
            <a:ext cx="28895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5B6A7C"/>
                </a:solidFill>
                <a:latin typeface="Aptos"/>
              </a:defRPr>
            </a:pPr>
            <a:r>
              <a:t>SVHN vs MNIST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3822191"/>
            <a:ext cx="5166360" cy="153619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3968496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2E6EB9"/>
                </a:solidFill>
                <a:latin typeface="Aptos"/>
              </a:defRPr>
            </a:pPr>
            <a:r>
              <a:t>0.9696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995928"/>
            <a:ext cx="2889504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4294F"/>
                </a:solidFill>
                <a:latin typeface="Aptos"/>
              </a:defRPr>
            </a:pPr>
            <a:r>
              <a:t>U-Matrix AUROC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4517136"/>
            <a:ext cx="28895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5B6A7C"/>
                </a:solidFill>
                <a:latin typeface="Aptos"/>
              </a:defRPr>
            </a:pPr>
            <a:r>
              <a:t>SVHN vs MNIST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91616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02F44"/>
                </a:solidFill>
                <a:latin typeface="Aptos"/>
              </a:defRPr>
            </a:pPr>
            <a:r>
              <a:t>AUROC shows ranking quality — not detection percentage.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E6EB9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14294F"/>
                </a:solidFill>
                <a:latin typeface="Aptos"/>
              </a:defRPr>
            </a:pPr>
            <a:r>
              <a:t>Which method best separates MNIST validation from SVHN test images?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5B6A7C"/>
                </a:solidFill>
                <a:latin typeface="Aptos"/>
              </a:defRPr>
            </a:pPr>
            <a:r>
              <a:t>Higher AUROC means better separation between familiar and unfamiliar images.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37376"/>
            <a:ext cx="1092708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A7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5B6A7C"/>
                </a:solidFill>
                <a:latin typeface="Aptos"/>
              </a:defRPr>
            </a:pPr>
            <a:r>
              <a:t>8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83664"/>
            <a:ext cx="22402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4294F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544" y="2029968"/>
            <a:ext cx="7040880" cy="256032"/>
          </a:xfrm>
          <a:prstGeom prst="roundRect">
            <a:avLst>
              <a:gd name="adj" fmla="val 14000"/>
            </a:avLst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9544" y="2029968"/>
            <a:ext cx="7039450" cy="256032"/>
          </a:xfrm>
          <a:prstGeom prst="roundRect">
            <a:avLst>
              <a:gd name="adj" fmla="val 14000"/>
            </a:avLst>
          </a:prstGeom>
          <a:solidFill>
            <a:srgbClr val="87A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78440" y="1883664"/>
            <a:ext cx="9418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900" b="1">
                <a:solidFill>
                  <a:srgbClr val="202F44"/>
                </a:solidFill>
                <a:latin typeface="Aptos"/>
              </a:defRPr>
            </a:pPr>
            <a:r>
              <a:t>0.9998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78608"/>
            <a:ext cx="22402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4294F"/>
                </a:solidFill>
                <a:latin typeface="Aptos"/>
              </a:defRPr>
            </a:pPr>
            <a:r>
              <a:t>Max-softmax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9544" y="2724912"/>
            <a:ext cx="7040880" cy="256032"/>
          </a:xfrm>
          <a:prstGeom prst="roundRect">
            <a:avLst>
              <a:gd name="adj" fmla="val 14000"/>
            </a:avLst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9544" y="2724912"/>
            <a:ext cx="7030283" cy="256032"/>
          </a:xfrm>
          <a:prstGeom prst="roundRect">
            <a:avLst>
              <a:gd name="adj" fmla="val 14000"/>
            </a:avLst>
          </a:prstGeom>
          <a:solidFill>
            <a:srgbClr val="87A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78440" y="2578608"/>
            <a:ext cx="9418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900" b="1">
                <a:solidFill>
                  <a:srgbClr val="202F44"/>
                </a:solidFill>
                <a:latin typeface="Aptos"/>
              </a:defRPr>
            </a:pPr>
            <a:r>
              <a:t>0.9985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73552"/>
            <a:ext cx="22402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4294F"/>
                </a:solidFill>
                <a:latin typeface="Aptos"/>
              </a:defRPr>
            </a:pPr>
            <a:r>
              <a:t>SOM QE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9544" y="3419856"/>
            <a:ext cx="7040880" cy="256032"/>
          </a:xfrm>
          <a:prstGeom prst="roundRect">
            <a:avLst>
              <a:gd name="adj" fmla="val 14000"/>
            </a:avLst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9544" y="3419856"/>
            <a:ext cx="6907856" cy="256032"/>
          </a:xfrm>
          <a:prstGeom prst="roundRect">
            <a:avLst>
              <a:gd name="adj" fmla="val 14000"/>
            </a:avLst>
          </a:prstGeom>
          <a:solidFill>
            <a:srgbClr val="87A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3273552"/>
            <a:ext cx="9418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900" b="1">
                <a:solidFill>
                  <a:srgbClr val="202F44"/>
                </a:solidFill>
                <a:latin typeface="Aptos"/>
              </a:defRPr>
            </a:pPr>
            <a:r>
              <a:t>0.9811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68496"/>
            <a:ext cx="22402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4294F"/>
                </a:solidFill>
                <a:latin typeface="Aptos"/>
              </a:defRPr>
            </a:pPr>
            <a:r>
              <a:t>kNN (k=5)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9544" y="4114800"/>
            <a:ext cx="7040880" cy="256032"/>
          </a:xfrm>
          <a:prstGeom prst="roundRect">
            <a:avLst>
              <a:gd name="adj" fmla="val 14000"/>
            </a:avLst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9544" y="4114800"/>
            <a:ext cx="6875848" cy="256032"/>
          </a:xfrm>
          <a:prstGeom prst="roundRect">
            <a:avLst>
              <a:gd name="adj" fmla="val 14000"/>
            </a:avLst>
          </a:prstGeom>
          <a:solidFill>
            <a:srgbClr val="2E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78440" y="3968496"/>
            <a:ext cx="9418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900" b="1">
                <a:solidFill>
                  <a:srgbClr val="2E6EB9"/>
                </a:solidFill>
                <a:latin typeface="Aptos"/>
              </a:defRPr>
            </a:pPr>
            <a:r>
              <a:t>0.9766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663440"/>
            <a:ext cx="22402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4294F"/>
                </a:solidFill>
                <a:latin typeface="Aptos"/>
              </a:defRPr>
            </a:pPr>
            <a:r>
              <a:t>Mahalanobis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9544" y="4809744"/>
            <a:ext cx="7040880" cy="256032"/>
          </a:xfrm>
          <a:prstGeom prst="roundRect">
            <a:avLst>
              <a:gd name="adj" fmla="val 14000"/>
            </a:avLst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9544" y="4809744"/>
            <a:ext cx="5466799" cy="256032"/>
          </a:xfrm>
          <a:prstGeom prst="roundRect">
            <a:avLst>
              <a:gd name="adj" fmla="val 14000"/>
            </a:avLst>
          </a:prstGeom>
          <a:solidFill>
            <a:srgbClr val="87A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78440" y="4663440"/>
            <a:ext cx="9418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900" b="1">
                <a:solidFill>
                  <a:srgbClr val="202F44"/>
                </a:solidFill>
                <a:latin typeface="Aptos"/>
              </a:defRPr>
            </a:pPr>
            <a:r>
              <a:t>0.7764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05856"/>
            <a:ext cx="1051560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294F"/>
                </a:solidFill>
                <a:latin typeface="Aptos"/>
              </a:defRPr>
            </a:pPr>
            <a:r>
              <a:rPr sz="1600"/>
              <a:t>MSP scores higher than QE: difference 0.0174 AUROC (paired 95% CI: 0.0154–0.0194).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972800" cy="292608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1100" b="1">
                <a:solidFill>
                  <a:srgbClr val="2A70BD"/>
                </a:solidFill>
                <a:latin typeface="Aptos"/>
              </a:defRPr>
            </a:pPr>
            <a:r>
              <a:t>PHASE 3 · NOVELTY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04088"/>
            <a:ext cx="10972800" cy="621792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2900" b="1">
                <a:solidFill>
                  <a:srgbClr val="162B51"/>
                </a:solidFill>
                <a:latin typeface="Aptos"/>
              </a:defRPr>
            </a:pPr>
            <a:r>
              <a:t>Conclusion: What did Phase 3 show?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972800" cy="347472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1500" b="0">
                <a:solidFill>
                  <a:srgbClr val="62758C"/>
                </a:solidFill>
                <a:latin typeface="Aptos"/>
              </a:defRPr>
            </a:pPr>
            <a:r>
              <a:t>Evaluation: familiar MNIST validation vs unfamiliar SVHN test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34472" cy="9418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2057400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2A7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12263"/>
            <a:ext cx="557784" cy="384048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993391"/>
            <a:ext cx="9107424" cy="301752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2000" b="1">
                <a:solidFill>
                  <a:srgbClr val="162B51"/>
                </a:solidFill>
                <a:latin typeface="Aptos"/>
              </a:defRPr>
            </a:pPr>
            <a:r>
              <a:t>We evaluated unfamiliar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359152"/>
            <a:ext cx="9162288" cy="329184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1400" b="0">
                <a:solidFill>
                  <a:srgbClr val="62758C"/>
                </a:solidFill>
                <a:latin typeface="Aptos"/>
              </a:defRPr>
            </a:pPr>
            <a:r>
              <a:t>96.17% of SVHN images were flagged using the fixed QE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1"/>
            <a:ext cx="10634472" cy="9418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" y="3136391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1E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191255"/>
            <a:ext cx="557784" cy="384048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3072383"/>
            <a:ext cx="9107424" cy="301752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2000" b="1">
                <a:solidFill>
                  <a:srgbClr val="162B51"/>
                </a:solidFill>
                <a:latin typeface="Aptos"/>
              </a:defRPr>
            </a:pPr>
            <a:r>
              <a:t>We checked familiar images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3438144"/>
            <a:ext cx="9162288" cy="329184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1400" b="0">
                <a:solidFill>
                  <a:srgbClr val="62758C"/>
                </a:solidFill>
                <a:latin typeface="Aptos"/>
              </a:defRPr>
            </a:pPr>
            <a:r>
              <a:t>5.13% of MNIST validation images were flagged by mistake.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32504"/>
            <a:ext cx="10634472" cy="941832"/>
          </a:xfrm>
          <a:prstGeom prst="roundRect">
            <a:avLst>
              <a:gd name="adj" fmla="val 12000"/>
            </a:avLst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7552" y="4215384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D4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70248"/>
            <a:ext cx="557784" cy="384048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151376"/>
            <a:ext cx="9107424" cy="301752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2000" b="1">
                <a:solidFill>
                  <a:srgbClr val="162B51"/>
                </a:solidFill>
                <a:latin typeface="Aptos"/>
              </a:defRPr>
            </a:pPr>
            <a:r>
              <a:t>We measured score separation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517136"/>
            <a:ext cx="9162288" cy="329184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1400" b="0">
                <a:solidFill>
                  <a:srgbClr val="62758C"/>
                </a:solidFill>
                <a:latin typeface="Aptos"/>
              </a:defRPr>
            </a:pPr>
            <a:r>
              <a:t>QE AUROC = 0.9811  ·  U-Matrix AUROC = 0.9696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7592" y="5340096"/>
            <a:ext cx="9573768" cy="704088"/>
          </a:xfrm>
          <a:prstGeom prst="roundRect">
            <a:avLst>
              <a:gd name="adj" fmla="val 12000"/>
            </a:avLst>
          </a:prstGeom>
          <a:solidFill>
            <a:srgbClr val="E4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81328" y="5504688"/>
            <a:ext cx="9253728" cy="329184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 algn="ctr">
              <a:defRPr sz="1800" b="1">
                <a:solidFill>
                  <a:srgbClr val="1E936F"/>
                </a:solidFill>
                <a:latin typeface="Aptos"/>
              </a:defRPr>
            </a:pPr>
            <a:r>
              <a:t>Takeaway: QE flagged most SVHN images in this MNIST–SVHN experiment.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37376"/>
            <a:ext cx="10927080" cy="13716"/>
          </a:xfrm>
          <a:prstGeom prst="rect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483096"/>
            <a:ext cx="3657600" cy="173736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>
              <a:defRPr sz="900" b="0">
                <a:solidFill>
                  <a:srgbClr val="62758C"/>
                </a:solidFill>
                <a:latin typeface="Aptos"/>
              </a:defRPr>
            </a:pPr>
            <a:r>
              <a:t>GROUP 5 · 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83096"/>
            <a:ext cx="804672" cy="173736"/>
          </a:xfrm>
          <a:prstGeom prst="rect">
            <a:avLst/>
          </a:prstGeom>
          <a:noFill/>
        </p:spPr>
        <p:txBody>
          <a:bodyPr wrap="square" lIns="22860" tIns="13716" rIns="22860" bIns="13716">
            <a:spAutoFit/>
          </a:bodyPr>
          <a:lstStyle/>
          <a:p>
            <a:pPr algn="r">
              <a:defRPr sz="900" b="0">
                <a:solidFill>
                  <a:srgbClr val="62758C"/>
                </a:solidFill>
                <a:latin typeface="Aptos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1461</Words>
  <Application>Microsoft Macintosh PowerPoint</Application>
  <PresentationFormat>Widescreen</PresentationFormat>
  <Paragraphs>160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Atta, Nazish</cp:lastModifiedBy>
  <cp:revision>7</cp:revision>
  <dcterms:created xsi:type="dcterms:W3CDTF">2013-01-27T09:14:16Z</dcterms:created>
  <dcterms:modified xsi:type="dcterms:W3CDTF">2026-10-20T00:33:46Z</dcterms:modified>
  <cp:category/>
</cp:coreProperties>
</file>